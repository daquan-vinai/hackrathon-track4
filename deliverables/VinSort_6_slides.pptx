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b3045fa30c740fa" /><Relationship Type="http://schemas.openxmlformats.org/officeDocument/2006/relationships/extended-properties" Target="/docProps/app.xml" Id="Rd1d1dfa24efa448a" /><Relationship Type="http://schemas.openxmlformats.org/officeDocument/2006/relationships/officeDocument" Target="/ppt/presentation.xml" Id="Rd4915020cc284fbe" /></Relationships>
</file>

<file path=ppt/presentation.xml><?xml version="1.0" encoding="utf-8"?>
<p:presentation xmlns:p="http://schemas.openxmlformats.org/presentationml/2006/main">
  <p:sldMasterIdLst>
    <p:sldMasterId xmlns:r="http://schemas.openxmlformats.org/officeDocument/2006/relationships" id="2147483648" r:id="R78a949df682a4ff7"/>
  </p:sldMasterIdLst>
  <p:notesMasterIdLst>
    <p:notesMasterId xmlns:r="http://schemas.openxmlformats.org/officeDocument/2006/relationships" r:id="Rb15080d3075a401b"/>
  </p:notesMasterIdLst>
  <p:sldIdLst>
    <p:sldId xmlns:r="http://schemas.openxmlformats.org/officeDocument/2006/relationships" id="256" r:id="R75f4214b88f54407"/>
    <p:sldId xmlns:r="http://schemas.openxmlformats.org/officeDocument/2006/relationships" id="257" r:id="R8dc95e48f95b4c42"/>
    <p:sldId xmlns:r="http://schemas.openxmlformats.org/officeDocument/2006/relationships" id="258" r:id="R29b44d3b1c1a40df"/>
    <p:sldId xmlns:r="http://schemas.openxmlformats.org/officeDocument/2006/relationships" id="259" r:id="R64128114c16b44c2"/>
    <p:sldId xmlns:r="http://schemas.openxmlformats.org/officeDocument/2006/relationships" id="260" r:id="R4e61f8a16ab34316"/>
    <p:sldId xmlns:r="http://schemas.openxmlformats.org/officeDocument/2006/relationships" id="261" r:id="R1040e53d175449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1f1fbb5ae148e1" /><Relationship Type="http://schemas.openxmlformats.org/officeDocument/2006/relationships/slideMaster" Target="/ppt/slideMasters/slideMaster1.xml" Id="R78a949df682a4ff7" /><Relationship Type="http://schemas.openxmlformats.org/officeDocument/2006/relationships/notesMaster" Target="/ppt/notesMasters/notesMaster1.xml" Id="Rb15080d3075a401b" /><Relationship Type="http://schemas.openxmlformats.org/officeDocument/2006/relationships/presProps" Target="/ppt/presProps.xml" Id="R3b6dd51648324791" /><Relationship Type="http://schemas.openxmlformats.org/officeDocument/2006/relationships/tableStyles" Target="/ppt/tableStyles.xml" Id="R9b80ad335ebe418b" /><Relationship Type="http://schemas.openxmlformats.org/officeDocument/2006/relationships/slide" Target="/ppt/slides/slide1.xml" Id="R75f4214b88f54407" /><Relationship Type="http://schemas.openxmlformats.org/officeDocument/2006/relationships/slide" Target="/ppt/slides/slide2.xml" Id="R8dc95e48f95b4c42" /><Relationship Type="http://schemas.openxmlformats.org/officeDocument/2006/relationships/slide" Target="/ppt/slides/slide3.xml" Id="R29b44d3b1c1a40df" /><Relationship Type="http://schemas.openxmlformats.org/officeDocument/2006/relationships/slide" Target="/ppt/slides/slide4.xml" Id="R64128114c16b44c2" /><Relationship Type="http://schemas.openxmlformats.org/officeDocument/2006/relationships/slide" Target="/ppt/slides/slide5.xml" Id="R4e61f8a16ab34316" /><Relationship Type="http://schemas.openxmlformats.org/officeDocument/2006/relationships/slide" Target="/ppt/slides/slide6.xml" Id="R1040e53d175449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efe5af918c46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46621eefaf4b64" /><Relationship Type="http://schemas.openxmlformats.org/officeDocument/2006/relationships/notesMaster" Target="/ppt/notesMasters/notesMaster1.xml" Id="Ra31535eedfac48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b5bc29b478433b" /><Relationship Type="http://schemas.openxmlformats.org/officeDocument/2006/relationships/notesMaster" Target="/ppt/notesMasters/notesMaster1.xml" Id="Rd8cae4d2c9f54d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54d679f32841de" /><Relationship Type="http://schemas.openxmlformats.org/officeDocument/2006/relationships/notesMaster" Target="/ppt/notesMasters/notesMaster1.xml" Id="Rc4969931da0645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647c12a08948db" /><Relationship Type="http://schemas.openxmlformats.org/officeDocument/2006/relationships/notesMaster" Target="/ppt/notesMasters/notesMaster1.xml" Id="R0c83b2e9fa2f43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cffa642e824e7c" /><Relationship Type="http://schemas.openxmlformats.org/officeDocument/2006/relationships/notesMaster" Target="/ppt/notesMasters/notesMaster1.xml" Id="R1fdee4d19c254c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175268917f4d5f" /><Relationship Type="http://schemas.openxmlformats.org/officeDocument/2006/relationships/notesMaster" Target="/ppt/notesMasters/notesMaster1.xml" Id="R66422209d95c48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Lan. Phân loại linh kiện thủ công có thể nhầm. VinSort cho robot nhận biết vị trí và màu, đồng thời cho người can thiệp khi cảnh nhập nhằng. Đây là mô hình ứng dụng đề xuất, nhóm chưa có số liệu thực địa VinFast.</a:t>
            </a:r>
          </a:p>
          <a:p xmlns:a="http://schemas.openxmlformats.org/drawingml/2006/main">
            <a:r>
              <a:t/>
            </a:r>
          </a:p>
          <a:p xmlns:a="http://schemas.openxmlformats.org/drawingml/2006/main">
            <a:r>
              <a:t>Nguồn: PHAN_CONG.md mục 7; vinsort/scene.py; ảnh camera ảo seed 0 từ lần chạy bàn giao.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0:30–1:00, Lan. Luồng trên là nhận thức và AUTO. Khi vùng ảnh không đủ tin cậy, điều phối chuyển TELEOP. Người tách vật rồi bấm a để robot nhìn lại. Pinch chỉ gắp/thả, không phải cử chỉ chuyển chế độ. Chuyển sang demo của A/B/C từ phút 1 đến phút 5.</a:t>
            </a:r>
          </a:p>
          <a:p xmlns:a="http://schemas.openxmlformats.org/drawingml/2006/main">
            <a:r>
              <a:t/>
            </a:r>
          </a:p>
          <a:p xmlns:a="http://schemas.openxmlformats.org/drawingml/2006/main">
            <a:r>
              <a:t>Nguồn: vinsort/perception.py, controller.py, main.py, teleop.py; PHAN_CONG.md sơ đồ và trụ cột.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5:00–5:40, Lan. Recall 120/120, XY trung bình 2.55 mm, đúng thùng 120/120. Biểu đồ tính trên các cặp của seed thường. Nhiễu nhân sáng U[0.7,1.3] cộng Gauss sigma 8, depth không đổi. Màu mô phỏng bão hòa nên kết quả nhiễu tương đương không chứng minh khả năng chịu ánh sáng thật. z trung bình -0.011 mm. Chu kỳ là tham số mô phỏng. Các định nghĩa đầy đủ giữ trong REPORT.md và đầu benchmark.py.</a:t>
            </a:r>
          </a:p>
          <a:p xmlns:a="http://schemas.openxmlformats.org/drawingml/2006/main">
            <a:r>
              <a:t/>
            </a:r>
          </a:p>
          <a:p xmlns:a="http://schemas.openxmlformats.org/drawingml/2006/main">
            <a:r>
              <a:t>Nguồn: deliverables/results/detect*.csv, pick*.csv, xy_pairs*.csv; metrics.json; benchmark.py. Nhiễu pick: 20 seed thường. Ca lỗi pick sạch: 20/30 vật vào thùng, còn 10 vật.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5:40–6:10, Lan. Robot xếp bốn vật rõ trước rồi chuyển người. Hai vật gộp không phải gắp hụt. Người tách một vật ra rồi bấm a. Video và test_full_hybrid_story dùng tracker theo kịch bản, chưa kiểm chứng webcam. Nhóm có thể cải tiến tách vùng bằng watershed hoặc depth.</a:t>
            </a:r>
          </a:p>
          <a:p xmlns:a="http://schemas.openxmlformats.org/drawingml/2006/main">
            <a:r>
              <a:t/>
            </a:r>
          </a:p>
          <a:p xmlns:a="http://schemas.openxmlformats.org/drawingml/2006/main">
            <a:r>
              <a:t>Nguồn: Ảnh camera ảo seed 100 trong deliverables/debug; vinsort/perception.py; test_vinsort.py; results/pick.csv.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6:10–6:35, Lan. Chỉ tỉ lệ đúng được đo trong sim. Chu kỳ sáu giây là giả định minh họa, không lấy chu kỳ mô phỏng làm năng suất thật. Tích tám giờ là giờ vận hành trong phạm vi tự động hóa, chưa phải tám giờ công tiết kiệm. Cần đo baseline và can thiệp.</a:t>
            </a:r>
          </a:p>
          <a:p xmlns:a="http://schemas.openxmlformats.org/drawingml/2006/main">
            <a:r>
              <a:t/>
            </a:r>
          </a:p>
          <a:p xmlns:a="http://schemas.openxmlformats.org/drawingml/2006/main">
            <a:r>
              <a:t>Nguồn: REPORT.md mục Impact. 6 giây/vật, 1 ca, 8 giờ và 1 trạm là giả định của nhóm, không phải số liệu VinFast.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6:35–7:00, Lan. Kết quả chứng minh pipeline và cơ chế bàn giao trong thế giới mô phỏng. Constraint chưa mô phỏng độ bám. Bước kế tiếp là dữ liệu và camera thật rồi tay gắp thật có đo số lần can thiệp. Từ phút 7 đến 10 cả nhóm hỏi đáp. Nếu demo hỏng, mở VinSort_demo.mp4 và nói rõ video mô phỏng, teleop theo kịch bản.</a:t>
            </a:r>
          </a:p>
          <a:p xmlns:a="http://schemas.openxmlformats.org/drawingml/2006/main">
            <a:r>
              <a:t/>
            </a:r>
          </a:p>
          <a:p xmlns:a="http://schemas.openxmlformats.org/drawingml/2006/main">
            <a:r>
              <a:t>Nguồn: vinsort/controller.py (fixed constraint), perception.py (HSV), teleop.py,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83c731a65e4d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9dc8703aad44f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c73661536b4b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3ba0253e794b2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f29ac060b147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e4c439a06f4b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13BF71-C3D3-4ED8-A41A-4CEE558F5DF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CCB461-5401-42F5-A49B-5375C9F5926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9AA22D4-4466-4BD7-A41D-0D89E0DDCF7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9E69B2-AAE4-4BA4-B2C5-619A2542D8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DD8511B-9C82-4D50-A9B6-85E46DB639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032DFC-D9C8-423C-8831-BAF889CC5A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DB6958-1E78-4D83-80E3-A30FA71460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9338B57-8F4C-41BA-B0B4-DD97E196F91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63ADD0-F363-422C-953E-4D98CA087B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7A3CC2-FB77-42A8-BCB1-7F5BBFDC76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72cd6b15ba4017" /><Relationship Type="http://schemas.openxmlformats.org/officeDocument/2006/relationships/slideLayout" Target="/ppt/slideLayouts/slideLayout1.xml" Id="Ra154444d27534fc6" /><Relationship Type="http://schemas.openxmlformats.org/officeDocument/2006/relationships/slideLayout" Target="/ppt/slideLayouts/slideLayout2.xml" Id="Rd4433e132b4a4d6d" /><Relationship Type="http://schemas.openxmlformats.org/officeDocument/2006/relationships/slideLayout" Target="/ppt/slideLayouts/slideLayout3.xml" Id="R4bdd8ed22f884938" /><Relationship Type="http://schemas.openxmlformats.org/officeDocument/2006/relationships/slideLayout" Target="/ppt/slideLayouts/slideLayout4.xml" Id="R3dfdebfa085143aa" /><Relationship Type="http://schemas.openxmlformats.org/officeDocument/2006/relationships/slideLayout" Target="/ppt/slideLayouts/slideLayout5.xml" Id="R39ccbcd1e1974fd2" /><Relationship Type="http://schemas.openxmlformats.org/officeDocument/2006/relationships/slideLayout" Target="/ppt/slideLayouts/slideLayout6.xml" Id="R1e59052fe0be45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54444d27534fc6"/>
    <p:sldLayoutId xmlns:r="http://schemas.openxmlformats.org/officeDocument/2006/relationships" id="2147483650" r:id="Rd4433e132b4a4d6d"/>
    <p:sldLayoutId xmlns:r="http://schemas.openxmlformats.org/officeDocument/2006/relationships" id="2147483651" r:id="R4bdd8ed22f884938"/>
    <p:sldLayoutId xmlns:r="http://schemas.openxmlformats.org/officeDocument/2006/relationships" id="2147483652" r:id="R3dfdebfa085143aa"/>
    <p:sldLayoutId xmlns:r="http://schemas.openxmlformats.org/officeDocument/2006/relationships" id="2147483653" r:id="R39ccbcd1e1974fd2"/>
    <p:sldLayoutId xmlns:r="http://schemas.openxmlformats.org/officeDocument/2006/relationships" id="2147483654" r:id="R1e59052fe0be45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b8c7430da5345b7" /><Relationship Type="http://schemas.openxmlformats.org/officeDocument/2006/relationships/image" Target="/ppt/media/image.png" Id="Re49a09ca15f9467f" /><Relationship Type="http://schemas.openxmlformats.org/officeDocument/2006/relationships/notesSlide" Target="/ppt/notesSlides/notesSlide1.xml" Id="R7c72f037409240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acd673be0b44c81" /><Relationship Type="http://schemas.openxmlformats.org/officeDocument/2006/relationships/notesSlide" Target="/ppt/notesSlides/notesSlide2.xml" Id="Ref1d014a30fc45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b84199f714943b0" /><Relationship Type="http://schemas.openxmlformats.org/officeDocument/2006/relationships/chart" Target="/ppt/slides/charts/chart1.xml" Id="R4c84fd3b9fe74aa1" /><Relationship Type="http://schemas.openxmlformats.org/officeDocument/2006/relationships/notesSlide" Target="/ppt/notesSlides/notesSlide3.xml" Id="R5c95f3bce58849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a259c8f16584902" /><Relationship Type="http://schemas.openxmlformats.org/officeDocument/2006/relationships/image" Target="/ppt/media/image2.png" Id="Rfcc1330eedbb4d0d" /><Relationship Type="http://schemas.openxmlformats.org/officeDocument/2006/relationships/image" Target="/ppt/media/image3.png" Id="Rce11efa3207843c1" /><Relationship Type="http://schemas.openxmlformats.org/officeDocument/2006/relationships/image" Target="/ppt/media/image4.png" Id="R2c17efa259e44f69" /><Relationship Type="http://schemas.openxmlformats.org/officeDocument/2006/relationships/notesSlide" Target="/ppt/notesSlides/notesSlide4.xml" Id="R6565c599f14740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c7f0a27629c47c1" /><Relationship Type="http://schemas.openxmlformats.org/officeDocument/2006/relationships/notesSlide" Target="/ppt/notesSlides/notesSlide5.xml" Id="R1bb7cc21ea914d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42aa1123f21403d" /><Relationship Type="http://schemas.openxmlformats.org/officeDocument/2006/relationships/notesSlide" Target="/ppt/notesSlides/notesSlide6.xml" Id="R2bcf19d771fa4e7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5243A"/>
                </a:solidFill>
                <a:latin typeface="Arial"/>
                <a:ea typeface="Arial"/>
                <a:cs typeface="Arial"/>
              </a:rPr>
              <a:t>Sai số XY (mm)</a:t>
            </a:r>
          </a:p>
        </c:rich>
      </c:tx>
      <c:overlay val="0"/>
      <c:txPr>
        <a:bodyPr xmlns:a="http://schemas.openxmlformats.org/drawingml/2006/main" anchorCtr="1"/>
        <a:lstStyle xmlns:a="http://schemas.openxmlformats.org/drawingml/2006/main"/>
        <a:p xmlns:a="http://schemas.openxmlformats.org/drawingml/2006/main">
          <a:pPr>
            <a:defRPr sz="1800">
              <a:solidFill>
                <a:srgbClr val="15243A"/>
              </a:solidFill>
              <a:latin typeface="Arial"/>
              <a:ea typeface="Arial"/>
              <a:cs typeface="Arial"/>
            </a:defRPr>
          </a:pPr>
        </a:p>
      </c:txPr>
    </c:title>
    <c:plotArea>
      <c:barChart>
        <c:barDir val="col"/>
        <c:grouping val="clustered"/>
        <c:varyColors val="0"/>
        <c:ser>
          <c:idx val="0"/>
          <c:order val="0"/>
          <c:tx>
            <c:v>Sạch</c:v>
          </c:tx>
          <c:spPr>
            <a:solidFill xmlns:a="http://schemas.openxmlformats.org/drawingml/2006/main">
              <a:srgbClr val="007D75"/>
            </a:solidFill>
          </c:spPr>
          <c:invertIfNegative val="0"/>
          <c:cat>
            <c:strRef>
              <c:f>'Chart Data'!$A$2:$A$4</c:f>
              <c:strCache>
                <c:ptCount val="3"/>
                <c:pt idx="0">
                  <c:v>Trung bình</c:v>
                </c:pt>
                <c:pt idx="1">
                  <c:v>Trung vị</c:v>
                </c:pt>
                <c:pt idx="2">
                  <c:v>Lớn nhất</c:v>
                </c:pt>
              </c:strCache>
            </c:strRef>
          </c:cat>
          <c:val>
            <c:numRef>
              <c:f>'Chart Data'!$B$2:$B$4</c:f>
              <c:numCache>
                <c:formatCode>0.0</c:formatCode>
                <c:ptCount val="3"/>
                <c:pt idx="0">
                  <c:v>2.55</c:v>
                </c:pt>
                <c:pt idx="1">
                  <c:v>2.63</c:v>
                </c:pt>
                <c:pt idx="2">
                  <c:v>4.82</c:v>
                </c:pt>
              </c:numCache>
            </c:numRef>
          </c:val>
        </c:ser>
        <c:ser>
          <c:idx val="1"/>
          <c:order val="1"/>
          <c:tx>
            <c:v>Nhiễu</c:v>
          </c:tx>
          <c:spPr>
            <a:solidFill xmlns:a="http://schemas.openxmlformats.org/drawingml/2006/main">
              <a:srgbClr val="DD9B4F"/>
            </a:solidFill>
          </c:spPr>
          <c:invertIfNegative val="0"/>
          <c:cat>
            <c:strRef>
              <c:f>'Chart Data'!$C$2:$C$4</c:f>
              <c:strCache>
                <c:ptCount val="3"/>
                <c:pt idx="0">
                  <c:v>Trung bình</c:v>
                </c:pt>
                <c:pt idx="1">
                  <c:v>Trung vị</c:v>
                </c:pt>
                <c:pt idx="2">
                  <c:v>Lớn nhất</c:v>
                </c:pt>
              </c:strCache>
            </c:strRef>
          </c:cat>
          <c:val>
            <c:numRef>
              <c:f>'Chart Data'!$D$2:$D$4</c:f>
              <c:numCache>
                <c:formatCode>0.0</c:formatCode>
                <c:ptCount val="3"/>
                <c:pt idx="0">
                  <c:v>2.55</c:v>
                </c:pt>
                <c:pt idx="1">
                  <c:v>2.63</c:v>
                </c:pt>
                <c:pt idx="2">
                  <c:v>4.82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a:solidFill>
                    <a:srgbClr val="15243A"/>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5243A"/>
                </a:solidFill>
                <a:latin typeface="Arial"/>
                <a:ea typeface="Arial"/>
                <a:cs typeface="Arial"/>
              </a:defRPr>
            </a:pPr>
          </a:p>
        </c:txPr>
        <c:crossAx val="48672768"/>
      </c:catAx>
      <c:valAx>
        <c:axId val="48672768"/>
        <c:scaling>
          <c:orientation val="minMax"/>
          <c:max val="6"/>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5243A"/>
                </a:solidFill>
                <a:latin typeface="Arial"/>
                <a:ea typeface="Arial"/>
                <a:cs typeface="Arial"/>
              </a:defRPr>
            </a:pPr>
          </a:p>
        </c:txPr>
        <c:crossAx val="48650112"/>
        <c:crossBetween val="between"/>
        <c:majorUnit val="2"/>
      </c:valAx>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5243A"/>
              </a:solidFill>
              <a:latin typeface="Arial"/>
              <a:ea typeface="Arial"/>
              <a:cs typeface="Arial"/>
            </a:defRPr>
          </a:pPr>
        </a:p>
      </c:txPr>
    </c:legend>
    <c:plotVisOnly val="1"/>
  </c:chart>
  <c:spPr>
    <a:solidFill xmlns:a="http://schemas.openxmlformats.org/drawingml/2006/main">
      <a:srgbClr val="F6F8FA"/>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VinSort: phân loại linh kiện bằng thị giác">
            <a:extLst xmlns:a="http://schemas.openxmlformats.org/drawingml/2006/main">
              <a:ext uri="{FF2B5EF4-FFF2-40B4-BE49-F238E27FC236}">
                <a16:creationId xmlns:a16="http://schemas.microsoft.com/office/drawing/2014/main" id="{000BA2A2-E7EE-41F5-AA51-880AFE3D3766}"/>
              </a:ext>
            </a:extLst>
          </p:cNvPr>
          <p:cNvSpPr>
            <a:spLocks xmlns:a="http://schemas.openxmlformats.org/drawingml/2006/main" noGrp="1"/>
          </p:cNvSpPr>
          <p:nvPr/>
        </p:nvSpPr>
        <p:spPr>
          <a:xfrm xmlns:a="http://schemas.openxmlformats.org/drawingml/2006/main">
            <a:off x="533400" y="4286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43A"/>
                </a:solidFill>
                <a:latin typeface="Arial"/>
                <a:ea typeface="Arial"/>
                <a:cs typeface="Arial"/>
              </a:defRPr>
            </a:defPPr>
          </a:lstStyle>
          <a:p xmlns:a="http://schemas.openxmlformats.org/drawingml/2006/main">
            <a:pPr>
              <a:defRPr sz="3225" b="1">
                <a:solidFill>
                  <a:srgbClr val="15243A"/>
                </a:solidFill>
                <a:latin typeface="Arial"/>
                <a:ea typeface="Arial"/>
                <a:cs typeface="Arial"/>
              </a:defRPr>
            </a:pPr>
            <a:r>
              <a:rPr sz="3225" b="1">
                <a:solidFill>
                  <a:srgbClr val="15243A"/>
                </a:solidFill>
                <a:latin typeface="Arial"/>
                <a:ea typeface="Arial"/>
                <a:cs typeface="Arial"/>
              </a:rPr>
              <a:t>VinSort: phân loại linh kiện bằng thị giác</a:t>
            </a:r>
          </a:p>
        </p:txBody>
      </p:sp>
      <p:sp>
        <p:nvSpPr>
          <p:cNvPr id="2" name="Vin Robotics × VinFast · Bối cảnh ứng dụng đề">
            <a:extLst xmlns:a="http://schemas.openxmlformats.org/drawingml/2006/main">
              <a:ext uri="{FF2B5EF4-FFF2-40B4-BE49-F238E27FC236}">
                <a16:creationId xmlns:a16="http://schemas.microsoft.com/office/drawing/2014/main" id="{B5DDD810-D4AC-4D0B-AB73-A50DCD4D3631}"/>
              </a:ext>
            </a:extLst>
          </p:cNvPr>
          <p:cNvSpPr>
            <a:spLocks xmlns:a="http://schemas.openxmlformats.org/drawingml/2006/main" noGrp="1"/>
          </p:cNvSpPr>
          <p:nvPr/>
        </p:nvSpPr>
        <p:spPr>
          <a:xfrm xmlns:a="http://schemas.openxmlformats.org/drawingml/2006/main">
            <a:off x="533400" y="11620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277"/>
                </a:solidFill>
                <a:latin typeface="Arial"/>
                <a:ea typeface="Arial"/>
                <a:cs typeface="Arial"/>
              </a:defRPr>
            </a:defPPr>
          </a:lstStyle>
          <a:p xmlns:a="http://schemas.openxmlformats.org/drawingml/2006/main">
            <a:pPr>
              <a:defRPr sz="1650" b="0">
                <a:solidFill>
                  <a:srgbClr val="526277"/>
                </a:solidFill>
                <a:latin typeface="Arial"/>
                <a:ea typeface="Arial"/>
                <a:cs typeface="Arial"/>
              </a:defRPr>
            </a:pPr>
            <a:r>
              <a:rPr sz="1650" b="0">
                <a:solidFill>
                  <a:srgbClr val="526277"/>
                </a:solidFill>
                <a:latin typeface="Arial"/>
                <a:ea typeface="Arial"/>
                <a:cs typeface="Arial"/>
              </a:rPr>
              <a:t>Vin Robotics × VinFast · Bối cảnh ứng dụng đề xuất</a:t>
            </a:r>
          </a:p>
        </p:txBody>
      </p:sp>
      <p:sp>
        <p:nvSpPr>
          <p:cNvPr id="3" name="VinSort · Track 4 · 16/10/2026">
            <a:extLst xmlns:a="http://schemas.openxmlformats.org/drawingml/2006/main">
              <a:ext uri="{FF2B5EF4-FFF2-40B4-BE49-F238E27FC236}">
                <a16:creationId xmlns:a16="http://schemas.microsoft.com/office/drawing/2014/main" id="{3A635D83-A75C-45F4-9467-A5CC24732A67}"/>
              </a:ext>
            </a:extLst>
          </p:cNvPr>
          <p:cNvSpPr>
            <a:spLocks xmlns:a="http://schemas.openxmlformats.org/drawingml/2006/main" noGrp="1"/>
          </p:cNvSpPr>
          <p:nvPr/>
        </p:nvSpPr>
        <p:spPr>
          <a:xfrm xmlns:a="http://schemas.openxmlformats.org/drawingml/2006/main">
            <a:off x="533400" y="646747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277"/>
                </a:solidFill>
                <a:latin typeface="Arial"/>
                <a:ea typeface="Arial"/>
                <a:cs typeface="Arial"/>
              </a:defRPr>
            </a:defPPr>
          </a:lstStyle>
          <a:p xmlns:a="http://schemas.openxmlformats.org/drawingml/2006/main">
            <a:pPr>
              <a:defRPr sz="1200" b="0">
                <a:solidFill>
                  <a:srgbClr val="526277"/>
                </a:solidFill>
                <a:latin typeface="Arial"/>
                <a:ea typeface="Arial"/>
                <a:cs typeface="Arial"/>
              </a:defRPr>
            </a:pPr>
            <a:r>
              <a:rPr sz="1200" b="0">
                <a:solidFill>
                  <a:srgbClr val="526277"/>
                </a:solidFill>
                <a:latin typeface="Arial"/>
                <a:ea typeface="Arial"/>
                <a:cs typeface="Arial"/>
              </a:rPr>
              <a:t>VinSort · Track 4 · 16/10/2026</a:t>
            </a:r>
          </a:p>
        </p:txBody>
      </p:sp>
      <p:sp>
        <p:nvSpPr>
          <p:cNvPr id="4" name="1/6">
            <a:extLst xmlns:a="http://schemas.openxmlformats.org/drawingml/2006/main">
              <a:ext uri="{FF2B5EF4-FFF2-40B4-BE49-F238E27FC236}">
                <a16:creationId xmlns:a16="http://schemas.microsoft.com/office/drawing/2014/main" id="{C4F3770A-AE52-415B-9838-E18145E8302F}"/>
              </a:ext>
            </a:extLst>
          </p:cNvPr>
          <p:cNvSpPr>
            <a:spLocks xmlns:a="http://schemas.openxmlformats.org/drawingml/2006/main" noGrp="1"/>
          </p:cNvSpPr>
          <p:nvPr/>
        </p:nvSpPr>
        <p:spPr>
          <a:xfrm xmlns:a="http://schemas.openxmlformats.org/drawingml/2006/main">
            <a:off x="11182350" y="64674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277"/>
                </a:solidFill>
                <a:latin typeface="Arial"/>
                <a:ea typeface="Arial"/>
                <a:cs typeface="Arial"/>
              </a:defRPr>
            </a:defPPr>
          </a:lstStyle>
          <a:p xmlns:a="http://schemas.openxmlformats.org/drawingml/2006/main">
            <a:pPr>
              <a:defRPr sz="1200" b="0">
                <a:solidFill>
                  <a:srgbClr val="526277"/>
                </a:solidFill>
                <a:latin typeface="Arial"/>
                <a:ea typeface="Arial"/>
                <a:cs typeface="Arial"/>
              </a:defRPr>
            </a:pPr>
            <a:r>
              <a:rPr sz="1200" b="0">
                <a:solidFill>
                  <a:srgbClr val="526277"/>
                </a:solidFill>
                <a:latin typeface="Arial"/>
                <a:ea typeface="Arial"/>
                <a:cs typeface="Arial"/>
              </a:rPr>
              <a:t>1/6</a:t>
            </a:r>
          </a:p>
        </p:txBody>
      </p:sp>
      <p:sp>
        <p:nvSpPr>
          <p:cNvPr id="5" name="Tự động khi nhận rõ vật">
            <a:extLst xmlns:a="http://schemas.openxmlformats.org/drawingml/2006/main">
              <a:ext uri="{FF2B5EF4-FFF2-40B4-BE49-F238E27FC236}">
                <a16:creationId xmlns:a16="http://schemas.microsoft.com/office/drawing/2014/main" id="{B13BCA46-CCCB-4329-9659-17C9EB4625AC}"/>
              </a:ext>
            </a:extLst>
          </p:cNvPr>
          <p:cNvSpPr>
            <a:spLocks xmlns:a="http://schemas.openxmlformats.org/drawingml/2006/main" noGrp="1"/>
          </p:cNvSpPr>
          <p:nvPr/>
        </p:nvSpPr>
        <p:spPr>
          <a:xfrm xmlns:a="http://schemas.openxmlformats.org/drawingml/2006/main">
            <a:off x="533400" y="1981200"/>
            <a:ext cx="490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007D75"/>
                </a:solidFill>
                <a:latin typeface="Arial"/>
                <a:ea typeface="Arial"/>
                <a:cs typeface="Arial"/>
              </a:defRPr>
            </a:defPPr>
          </a:lstStyle>
          <a:p xmlns:a="http://schemas.openxmlformats.org/drawingml/2006/main">
            <a:pPr>
              <a:defRPr sz="3150" b="1">
                <a:solidFill>
                  <a:srgbClr val="007D75"/>
                </a:solidFill>
                <a:latin typeface="Arial"/>
                <a:ea typeface="Arial"/>
                <a:cs typeface="Arial"/>
              </a:defRPr>
            </a:pPr>
            <a:r>
              <a:rPr sz="3150" b="1">
                <a:solidFill>
                  <a:srgbClr val="007D75"/>
                </a:solidFill>
                <a:latin typeface="Arial"/>
                <a:ea typeface="Arial"/>
                <a:cs typeface="Arial"/>
              </a:rPr>
              <a:t>Tự động khi nhận rõ vật</a:t>
            </a:r>
          </a:p>
        </p:txBody>
      </p:sp>
      <p:sp>
        <p:nvSpPr>
          <p:cNvPr id="6" name="Chuyển cho người khi hai vật nhập nhằng">
            <a:extLst xmlns:a="http://schemas.openxmlformats.org/drawingml/2006/main">
              <a:ext uri="{FF2B5EF4-FFF2-40B4-BE49-F238E27FC236}">
                <a16:creationId xmlns:a16="http://schemas.microsoft.com/office/drawing/2014/main" id="{79D43E9A-A8B3-41A8-A5D7-ECC9CCA882C0}"/>
              </a:ext>
            </a:extLst>
          </p:cNvPr>
          <p:cNvSpPr>
            <a:spLocks xmlns:a="http://schemas.openxmlformats.org/drawingml/2006/main" noGrp="1"/>
          </p:cNvSpPr>
          <p:nvPr/>
        </p:nvSpPr>
        <p:spPr>
          <a:xfrm xmlns:a="http://schemas.openxmlformats.org/drawingml/2006/main">
            <a:off x="533400" y="2943225"/>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5243A"/>
                </a:solidFill>
                <a:latin typeface="Arial"/>
                <a:ea typeface="Arial"/>
                <a:cs typeface="Arial"/>
              </a:defRPr>
            </a:defPPr>
          </a:lstStyle>
          <a:p xmlns:a="http://schemas.openxmlformats.org/drawingml/2006/main">
            <a:pPr>
              <a:defRPr sz="2550" b="1">
                <a:solidFill>
                  <a:srgbClr val="15243A"/>
                </a:solidFill>
                <a:latin typeface="Arial"/>
                <a:ea typeface="Arial"/>
                <a:cs typeface="Arial"/>
              </a:defRPr>
            </a:pPr>
            <a:r>
              <a:rPr sz="2550" b="1">
                <a:solidFill>
                  <a:srgbClr val="15243A"/>
                </a:solidFill>
                <a:latin typeface="Arial"/>
                <a:ea typeface="Arial"/>
                <a:cs typeface="Arial"/>
              </a:rPr>
              <a:t>Chuyển cho người khi hai vật nhập nhằng</a:t>
            </a:r>
          </a:p>
        </p:txBody>
      </p:sp>
      <p:sp>
        <p:nvSpPr>
          <p:cNvPr id="7" name="Người dùng: kỹ thuật viên trạm phân loại&#10;&#10;Min">
            <a:extLst xmlns:a="http://schemas.openxmlformats.org/drawingml/2006/main">
              <a:ext uri="{FF2B5EF4-FFF2-40B4-BE49-F238E27FC236}">
                <a16:creationId xmlns:a16="http://schemas.microsoft.com/office/drawing/2014/main" id="{33BE5F3F-5EFA-4327-8790-05C9BFB7B8BE}"/>
              </a:ext>
            </a:extLst>
          </p:cNvPr>
          <p:cNvSpPr>
            <a:spLocks xmlns:a="http://schemas.openxmlformats.org/drawingml/2006/main" noGrp="1"/>
          </p:cNvSpPr>
          <p:nvPr/>
        </p:nvSpPr>
        <p:spPr>
          <a:xfrm xmlns:a="http://schemas.openxmlformats.org/drawingml/2006/main">
            <a:off x="533400" y="4362450"/>
            <a:ext cx="4857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26277"/>
                </a:solidFill>
                <a:latin typeface="Arial"/>
                <a:ea typeface="Arial"/>
                <a:cs typeface="Arial"/>
              </a:defRPr>
            </a:defPPr>
          </a:lstStyle>
          <a:p xmlns:a="http://schemas.openxmlformats.org/drawingml/2006/main">
            <a:pPr>
              <a:defRPr sz="1950" b="0">
                <a:solidFill>
                  <a:srgbClr val="526277"/>
                </a:solidFill>
                <a:latin typeface="Arial"/>
                <a:ea typeface="Arial"/>
                <a:cs typeface="Arial"/>
              </a:defRPr>
            </a:pPr>
            <a:r>
              <a:rPr sz="1950" b="0">
                <a:solidFill>
                  <a:srgbClr val="526277"/>
                </a:solidFill>
                <a:latin typeface="Arial"/>
                <a:ea typeface="Arial"/>
                <a:cs typeface="Arial"/>
              </a:rPr>
              <a:t>Người dùng: kỹ thuật viên trạm phân loại</a:t>
            </a:r>
          </a:p>
          <a:p xmlns:a="http://schemas.openxmlformats.org/drawingml/2006/main">
            <a:r>
              <a:t/>
            </a:r>
          </a:p>
          <a:p xmlns:a="http://schemas.openxmlformats.org/drawingml/2006/main">
            <a:pPr>
              <a:defRPr sz="1950" b="0">
                <a:solidFill>
                  <a:srgbClr val="526277"/>
                </a:solidFill>
                <a:latin typeface="Arial"/>
                <a:ea typeface="Arial"/>
                <a:cs typeface="Arial"/>
              </a:defRPr>
            </a:pPr>
            <a:r>
              <a:rPr sz="1950" b="0">
                <a:solidFill>
                  <a:srgbClr val="526277"/>
                </a:solidFill>
                <a:latin typeface="Arial"/>
                <a:ea typeface="Arial"/>
                <a:cs typeface="Arial"/>
              </a:rPr>
              <a:t>Minh họa bằng 6 khối, 3 màu trong PyBullet</a:t>
            </a:r>
          </a:p>
        </p:txBody>
      </p:sp>
      <p:pic>
        <p:nvPicPr>
          <p:cNvPr id="8" name="">
            <a:extLst xmlns:a="http://schemas.openxmlformats.org/drawingml/2006/main">
              <a:ext uri="{FF2B5EF4-FFF2-40B4-BE49-F238E27FC236}">
                <a16:creationId xmlns:a16="http://schemas.microsoft.com/office/drawing/2014/main" id="{407527E4-E638-49FB-909C-53555B27E747}"/>
              </a:ext>
            </a:extLst>
          </p:cNvPr>
          <p:cNvPicPr>
            <a:picLocks xmlns:a="http://schemas.openxmlformats.org/drawingml/2006/main" noChangeAspect="1"/>
          </p:cNvPicPr>
          <p:nvPr/>
        </p:nvPicPr>
        <p:blipFill>
          <a:blip xmlns:r="http://schemas.openxmlformats.org/officeDocument/2006/relationships" xmlns:a="http://schemas.openxmlformats.org/drawingml/2006/main" r:embed="Re49a09ca15f9467f"/>
          <a:stretch xmlns:a="http://schemas.openxmlformats.org/drawingml/2006/main"/>
        </p:blipFill>
        <p:spPr>
          <a:xfrm xmlns:a="http://schemas.openxmlformats.org/drawingml/2006/main">
            <a:off x="6149975" y="1866900"/>
            <a:ext cx="5207000" cy="3905250"/>
          </a:xfrm>
          <a:prstGeom xmlns:a="http://schemas.openxmlformats.org/drawingml/2006/main" prst="rect">
            <a:avLst/>
          </a:prstGeom>
        </p:spPr>
      </p:pic>
    </p:spTree>
    <p:extLst>
      <p:ext uri="{BB962C8B-B14F-4D97-AF65-F5344CB8AC3E}">
        <p14:creationId xmlns:p14="http://schemas.microsoft.com/office/powerpoint/2010/main" val="1694769537"/>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1" name="Kiến trúc và trụ cột Track 4">
            <a:extLst xmlns:a="http://schemas.openxmlformats.org/drawingml/2006/main">
              <a:ext uri="{FF2B5EF4-FFF2-40B4-BE49-F238E27FC236}">
                <a16:creationId xmlns:a16="http://schemas.microsoft.com/office/drawing/2014/main" id="{508CAB54-54AD-4B6D-A1D0-ED4684912B52}"/>
              </a:ext>
            </a:extLst>
          </p:cNvPr>
          <p:cNvSpPr>
            <a:spLocks xmlns:a="http://schemas.openxmlformats.org/drawingml/2006/main" noGrp="1"/>
          </p:cNvSpPr>
          <p:nvPr/>
        </p:nvSpPr>
        <p:spPr>
          <a:xfrm xmlns:a="http://schemas.openxmlformats.org/drawingml/2006/main">
            <a:off x="533400" y="4286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43A"/>
                </a:solidFill>
                <a:latin typeface="Arial"/>
                <a:ea typeface="Arial"/>
                <a:cs typeface="Arial"/>
              </a:defRPr>
            </a:defPPr>
          </a:lstStyle>
          <a:p xmlns:a="http://schemas.openxmlformats.org/drawingml/2006/main">
            <a:pPr>
              <a:defRPr sz="3225" b="1">
                <a:solidFill>
                  <a:srgbClr val="15243A"/>
                </a:solidFill>
                <a:latin typeface="Arial"/>
                <a:ea typeface="Arial"/>
                <a:cs typeface="Arial"/>
              </a:defRPr>
            </a:pPr>
            <a:r>
              <a:rPr sz="3225" b="1">
                <a:solidFill>
                  <a:srgbClr val="15243A"/>
                </a:solidFill>
                <a:latin typeface="Arial"/>
                <a:ea typeface="Arial"/>
                <a:cs typeface="Arial"/>
              </a:rPr>
              <a:t>Kiến trúc và trụ cột Track 4</a:t>
            </a:r>
          </a:p>
        </p:txBody>
      </p:sp>
      <p:sp>
        <p:nvSpPr>
          <p:cNvPr id="2" name="Mã đã chạy: vinsort/ · Camera ảo nhìn vật, we">
            <a:extLst xmlns:a="http://schemas.openxmlformats.org/drawingml/2006/main">
              <a:ext uri="{FF2B5EF4-FFF2-40B4-BE49-F238E27FC236}">
                <a16:creationId xmlns:a16="http://schemas.microsoft.com/office/drawing/2014/main" id="{0FBF8812-420C-4938-94AD-EA6AD86C7FDE}"/>
              </a:ext>
            </a:extLst>
          </p:cNvPr>
          <p:cNvSpPr>
            <a:spLocks xmlns:a="http://schemas.openxmlformats.org/drawingml/2006/main" noGrp="1"/>
          </p:cNvSpPr>
          <p:nvPr/>
        </p:nvSpPr>
        <p:spPr>
          <a:xfrm xmlns:a="http://schemas.openxmlformats.org/drawingml/2006/main">
            <a:off x="533400" y="11620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277"/>
                </a:solidFill>
                <a:latin typeface="Arial"/>
                <a:ea typeface="Arial"/>
                <a:cs typeface="Arial"/>
              </a:defRPr>
            </a:defPPr>
          </a:lstStyle>
          <a:p xmlns:a="http://schemas.openxmlformats.org/drawingml/2006/main">
            <a:pPr>
              <a:defRPr sz="1650" b="0">
                <a:solidFill>
                  <a:srgbClr val="526277"/>
                </a:solidFill>
                <a:latin typeface="Arial"/>
                <a:ea typeface="Arial"/>
                <a:cs typeface="Arial"/>
              </a:defRPr>
            </a:pPr>
            <a:r>
              <a:rPr sz="1650" b="0">
                <a:solidFill>
                  <a:srgbClr val="526277"/>
                </a:solidFill>
                <a:latin typeface="Arial"/>
                <a:ea typeface="Arial"/>
                <a:cs typeface="Arial"/>
              </a:rPr>
              <a:t>Mã đã chạy: vinsort/ · Camera ảo nhìn vật, webcam thật chỉ nhìn tay</a:t>
            </a:r>
          </a:p>
        </p:txBody>
      </p:sp>
      <p:sp>
        <p:nvSpPr>
          <p:cNvPr id="3" name="VinSort · Track 4 · 16/10/2026">
            <a:extLst xmlns:a="http://schemas.openxmlformats.org/drawingml/2006/main">
              <a:ext uri="{FF2B5EF4-FFF2-40B4-BE49-F238E27FC236}">
                <a16:creationId xmlns:a16="http://schemas.microsoft.com/office/drawing/2014/main" id="{364038F8-7920-4517-B294-BE26109F9972}"/>
              </a:ext>
            </a:extLst>
          </p:cNvPr>
          <p:cNvSpPr>
            <a:spLocks xmlns:a="http://schemas.openxmlformats.org/drawingml/2006/main" noGrp="1"/>
          </p:cNvSpPr>
          <p:nvPr/>
        </p:nvSpPr>
        <p:spPr>
          <a:xfrm xmlns:a="http://schemas.openxmlformats.org/drawingml/2006/main">
            <a:off x="533400" y="646747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277"/>
                </a:solidFill>
                <a:latin typeface="Arial"/>
                <a:ea typeface="Arial"/>
                <a:cs typeface="Arial"/>
              </a:defRPr>
            </a:defPPr>
          </a:lstStyle>
          <a:p xmlns:a="http://schemas.openxmlformats.org/drawingml/2006/main">
            <a:pPr>
              <a:defRPr sz="1200" b="0">
                <a:solidFill>
                  <a:srgbClr val="526277"/>
                </a:solidFill>
                <a:latin typeface="Arial"/>
                <a:ea typeface="Arial"/>
                <a:cs typeface="Arial"/>
              </a:defRPr>
            </a:pPr>
            <a:r>
              <a:rPr sz="1200" b="0">
                <a:solidFill>
                  <a:srgbClr val="526277"/>
                </a:solidFill>
                <a:latin typeface="Arial"/>
                <a:ea typeface="Arial"/>
                <a:cs typeface="Arial"/>
              </a:rPr>
              <a:t>VinSort · Track 4 · 16/10/2026</a:t>
            </a:r>
          </a:p>
        </p:txBody>
      </p:sp>
      <p:sp>
        <p:nvSpPr>
          <p:cNvPr id="4" name="2/6">
            <a:extLst xmlns:a="http://schemas.openxmlformats.org/drawingml/2006/main">
              <a:ext uri="{FF2B5EF4-FFF2-40B4-BE49-F238E27FC236}">
                <a16:creationId xmlns:a16="http://schemas.microsoft.com/office/drawing/2014/main" id="{5738FCAC-029D-471A-977E-E8AA617E1AD0}"/>
              </a:ext>
            </a:extLst>
          </p:cNvPr>
          <p:cNvSpPr>
            <a:spLocks xmlns:a="http://schemas.openxmlformats.org/drawingml/2006/main" noGrp="1"/>
          </p:cNvSpPr>
          <p:nvPr/>
        </p:nvSpPr>
        <p:spPr>
          <a:xfrm xmlns:a="http://schemas.openxmlformats.org/drawingml/2006/main">
            <a:off x="11182350" y="64674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277"/>
                </a:solidFill>
                <a:latin typeface="Arial"/>
                <a:ea typeface="Arial"/>
                <a:cs typeface="Arial"/>
              </a:defRPr>
            </a:defPPr>
          </a:lstStyle>
          <a:p xmlns:a="http://schemas.openxmlformats.org/drawingml/2006/main">
            <a:pPr>
              <a:defRPr sz="1200" b="0">
                <a:solidFill>
                  <a:srgbClr val="526277"/>
                </a:solidFill>
                <a:latin typeface="Arial"/>
                <a:ea typeface="Arial"/>
                <a:cs typeface="Arial"/>
              </a:defRPr>
            </a:pPr>
            <a:r>
              <a:rPr sz="1200" b="0">
                <a:solidFill>
                  <a:srgbClr val="526277"/>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2E5B72BF-A9F0-40D0-ABC8-848AAF4471C4}"/>
              </a:ext>
            </a:extLst>
          </p:cNvPr>
          <p:cNvSpPr>
            <a:spLocks xmlns:a="http://schemas.openxmlformats.org/drawingml/2006/main" noGrp="1"/>
          </p:cNvSpPr>
          <p:nvPr/>
        </p:nvSpPr>
        <p:spPr>
          <a:xfrm xmlns:a="http://schemas.openxmlformats.org/drawingml/2006/main">
            <a:off x="533400" y="1981200"/>
            <a:ext cx="2095500" cy="895350"/>
          </a:xfrm>
          <a:prstGeom xmlns:a="http://schemas.openxmlformats.org/drawingml/2006/main" prst="rect">
            <a:avLst/>
          </a:prstGeom>
          <a:solidFill xmlns:a="http://schemas.openxmlformats.org/drawingml/2006/main">
            <a:srgbClr val="E4EFED"/>
          </a:solidFill>
          <a:ln xmlns:a="http://schemas.openxmlformats.org/drawingml/2006/main" w="9525">
            <a:solidFill>
              <a:srgbClr val="007D75"/>
            </a:solidFill>
          </a:ln>
        </p:spPr>
        <p:txBody>
          <a:bodyPr xmlns:a="http://schemas.openxmlformats.org/drawingml/2006/main"/>
          <a:lstStyle xmlns:a="http://schemas.openxmlformats.org/drawingml/2006/main">
            <a:defPPr>
              <a:defRPr sz="1725">
                <a:solidFill>
                  <a:srgbClr val="15243A"/>
                </a:solidFill>
                <a:latin typeface="Arial"/>
                <a:ea typeface="Arial"/>
                <a:cs typeface="Arial"/>
              </a:defRPr>
            </a:defPPr>
          </a:lstStyle>
          <a:p xmlns:a="http://schemas.openxmlformats.org/drawingml/2006/main">
            <a:pPr>
              <a:defRPr sz="1725">
                <a:solidFill>
                  <a:srgbClr val="15243A"/>
                </a:solidFill>
                <a:latin typeface="Arial"/>
                <a:ea typeface="Arial"/>
                <a:cs typeface="Arial"/>
              </a:defRPr>
            </a:pPr>
            <a:r>
              <a:rPr sz="1725">
                <a:solidFill>
                  <a:srgbClr val="15243A"/>
                </a:solidFill>
                <a:latin typeface="Arial"/>
                <a:ea typeface="Arial"/>
                <a:cs typeface="Arial"/>
              </a:rPr>
              <a:t>RGB + depth</a:t>
            </a:r>
          </a:p>
          <a:p xmlns:a="http://schemas.openxmlformats.org/drawingml/2006/main">
            <a:pPr>
              <a:defRPr sz="1725">
                <a:solidFill>
                  <a:srgbClr val="15243A"/>
                </a:solidFill>
                <a:latin typeface="Arial"/>
                <a:ea typeface="Arial"/>
                <a:cs typeface="Arial"/>
              </a:defRPr>
            </a:pPr>
            <a:r>
              <a:rPr sz="1725">
                <a:solidFill>
                  <a:srgbClr val="15243A"/>
                </a:solidFill>
                <a:latin typeface="Arial"/>
                <a:ea typeface="Arial"/>
                <a:cs typeface="Arial"/>
              </a:rPr>
              <a:t>Camera ảo</a:t>
            </a:r>
          </a:p>
        </p:txBody>
      </p:sp>
      <p:sp>
        <p:nvSpPr>
          <p:cNvPr id="6" name="">
            <a:extLst xmlns:a="http://schemas.openxmlformats.org/drawingml/2006/main">
              <a:ext uri="{FF2B5EF4-FFF2-40B4-BE49-F238E27FC236}">
                <a16:creationId xmlns:a16="http://schemas.microsoft.com/office/drawing/2014/main" id="{D61EFC39-9F7D-4245-802B-9C37F4B1E665}"/>
              </a:ext>
            </a:extLst>
          </p:cNvPr>
          <p:cNvSpPr>
            <a:spLocks xmlns:a="http://schemas.openxmlformats.org/drawingml/2006/main" noGrp="1"/>
          </p:cNvSpPr>
          <p:nvPr/>
        </p:nvSpPr>
        <p:spPr>
          <a:xfrm xmlns:a="http://schemas.openxmlformats.org/drawingml/2006/main">
            <a:off x="2781300" y="2286000"/>
            <a:ext cx="381000" cy="238125"/>
          </a:xfrm>
          <a:prstGeom xmlns:a="http://schemas.openxmlformats.org/drawingml/2006/main" prst="rightArrow">
            <a:avLst/>
          </a:prstGeom>
          <a:solidFill xmlns:a="http://schemas.openxmlformats.org/drawingml/2006/main">
            <a:srgbClr val="007D7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42AFEC6-977C-44C4-ACFC-4A7033AF39A5}"/>
              </a:ext>
            </a:extLst>
          </p:cNvPr>
          <p:cNvSpPr>
            <a:spLocks xmlns:a="http://schemas.openxmlformats.org/drawingml/2006/main" noGrp="1"/>
          </p:cNvSpPr>
          <p:nvPr/>
        </p:nvSpPr>
        <p:spPr>
          <a:xfrm xmlns:a="http://schemas.openxmlformats.org/drawingml/2006/main">
            <a:off x="3333750" y="1981200"/>
            <a:ext cx="2343150" cy="895350"/>
          </a:xfrm>
          <a:prstGeom xmlns:a="http://schemas.openxmlformats.org/drawingml/2006/main" prst="rect">
            <a:avLst/>
          </a:prstGeom>
          <a:solidFill xmlns:a="http://schemas.openxmlformats.org/drawingml/2006/main">
            <a:srgbClr val="E4EFED"/>
          </a:solidFill>
          <a:ln xmlns:a="http://schemas.openxmlformats.org/drawingml/2006/main" w="9525">
            <a:solidFill>
              <a:srgbClr val="007D75"/>
            </a:solidFill>
          </a:ln>
        </p:spPr>
        <p:txBody>
          <a:bodyPr xmlns:a="http://schemas.openxmlformats.org/drawingml/2006/main"/>
          <a:lstStyle xmlns:a="http://schemas.openxmlformats.org/drawingml/2006/main">
            <a:defPPr>
              <a:defRPr sz="1725">
                <a:solidFill>
                  <a:srgbClr val="15243A"/>
                </a:solidFill>
                <a:latin typeface="Arial"/>
                <a:ea typeface="Arial"/>
                <a:cs typeface="Arial"/>
              </a:defRPr>
            </a:defPPr>
          </a:lstStyle>
          <a:p xmlns:a="http://schemas.openxmlformats.org/drawingml/2006/main">
            <a:pPr>
              <a:defRPr sz="1725">
                <a:solidFill>
                  <a:srgbClr val="15243A"/>
                </a:solidFill>
                <a:latin typeface="Arial"/>
                <a:ea typeface="Arial"/>
                <a:cs typeface="Arial"/>
              </a:defRPr>
            </a:pPr>
            <a:r>
              <a:rPr sz="1725">
                <a:solidFill>
                  <a:srgbClr val="15243A"/>
                </a:solidFill>
                <a:latin typeface="Arial"/>
                <a:ea typeface="Arial"/>
                <a:cs typeface="Arial"/>
              </a:rPr>
              <a:t>HSV + contour</a:t>
            </a:r>
          </a:p>
          <a:p xmlns:a="http://schemas.openxmlformats.org/drawingml/2006/main">
            <a:pPr>
              <a:defRPr sz="1725">
                <a:solidFill>
                  <a:srgbClr val="15243A"/>
                </a:solidFill>
                <a:latin typeface="Arial"/>
                <a:ea typeface="Arial"/>
                <a:cs typeface="Arial"/>
              </a:defRPr>
            </a:pPr>
            <a:r>
              <a:rPr sz="1725">
                <a:solidFill>
                  <a:srgbClr val="15243A"/>
                </a:solidFill>
                <a:latin typeface="Arial"/>
                <a:ea typeface="Arial"/>
                <a:cs typeface="Arial"/>
              </a:rPr>
              <a:t>Pixel thành 3D</a:t>
            </a:r>
          </a:p>
        </p:txBody>
      </p:sp>
      <p:sp>
        <p:nvSpPr>
          <p:cNvPr id="8" name="">
            <a:extLst xmlns:a="http://schemas.openxmlformats.org/drawingml/2006/main">
              <a:ext uri="{FF2B5EF4-FFF2-40B4-BE49-F238E27FC236}">
                <a16:creationId xmlns:a16="http://schemas.microsoft.com/office/drawing/2014/main" id="{3A134776-E97E-45BE-9C04-90B778A4CD4F}"/>
              </a:ext>
            </a:extLst>
          </p:cNvPr>
          <p:cNvSpPr>
            <a:spLocks xmlns:a="http://schemas.openxmlformats.org/drawingml/2006/main" noGrp="1"/>
          </p:cNvSpPr>
          <p:nvPr/>
        </p:nvSpPr>
        <p:spPr>
          <a:xfrm xmlns:a="http://schemas.openxmlformats.org/drawingml/2006/main">
            <a:off x="5829300" y="2286000"/>
            <a:ext cx="381000" cy="238125"/>
          </a:xfrm>
          <a:prstGeom xmlns:a="http://schemas.openxmlformats.org/drawingml/2006/main" prst="rightArrow">
            <a:avLst/>
          </a:prstGeom>
          <a:solidFill xmlns:a="http://schemas.openxmlformats.org/drawingml/2006/main">
            <a:srgbClr val="007D7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278D162-F947-49DA-8190-0C96821E30B0}"/>
              </a:ext>
            </a:extLst>
          </p:cNvPr>
          <p:cNvSpPr>
            <a:spLocks xmlns:a="http://schemas.openxmlformats.org/drawingml/2006/main" noGrp="1"/>
          </p:cNvSpPr>
          <p:nvPr/>
        </p:nvSpPr>
        <p:spPr>
          <a:xfrm xmlns:a="http://schemas.openxmlformats.org/drawingml/2006/main">
            <a:off x="6381750" y="1981200"/>
            <a:ext cx="2476500" cy="895350"/>
          </a:xfrm>
          <a:prstGeom xmlns:a="http://schemas.openxmlformats.org/drawingml/2006/main" prst="rect">
            <a:avLst/>
          </a:prstGeom>
          <a:solidFill xmlns:a="http://schemas.openxmlformats.org/drawingml/2006/main">
            <a:srgbClr val="E4EFED"/>
          </a:solidFill>
          <a:ln xmlns:a="http://schemas.openxmlformats.org/drawingml/2006/main" w="9525">
            <a:solidFill>
              <a:srgbClr val="007D75"/>
            </a:solidFill>
          </a:ln>
        </p:spPr>
        <p:txBody>
          <a:bodyPr xmlns:a="http://schemas.openxmlformats.org/drawingml/2006/main"/>
          <a:lstStyle xmlns:a="http://schemas.openxmlformats.org/drawingml/2006/main">
            <a:defPPr>
              <a:defRPr sz="1725">
                <a:solidFill>
                  <a:srgbClr val="15243A"/>
                </a:solidFill>
                <a:latin typeface="Arial"/>
                <a:ea typeface="Arial"/>
                <a:cs typeface="Arial"/>
              </a:defRPr>
            </a:defPPr>
          </a:lstStyle>
          <a:p xmlns:a="http://schemas.openxmlformats.org/drawingml/2006/main">
            <a:pPr>
              <a:defRPr sz="1725">
                <a:solidFill>
                  <a:srgbClr val="15243A"/>
                </a:solidFill>
                <a:latin typeface="Arial"/>
                <a:ea typeface="Arial"/>
                <a:cs typeface="Arial"/>
              </a:defRPr>
            </a:pPr>
            <a:r>
              <a:rPr sz="1725">
                <a:solidFill>
                  <a:srgbClr val="15243A"/>
                </a:solidFill>
                <a:latin typeface="Arial"/>
                <a:ea typeface="Arial"/>
                <a:cs typeface="Arial"/>
              </a:rPr>
              <a:t>Kiểm tra tin cậy</a:t>
            </a:r>
          </a:p>
          <a:p xmlns:a="http://schemas.openxmlformats.org/drawingml/2006/main">
            <a:pPr>
              <a:defRPr sz="1725">
                <a:solidFill>
                  <a:srgbClr val="15243A"/>
                </a:solidFill>
                <a:latin typeface="Arial"/>
                <a:ea typeface="Arial"/>
                <a:cs typeface="Arial"/>
              </a:defRPr>
            </a:pPr>
            <a:r>
              <a:rPr sz="1725">
                <a:solidFill>
                  <a:srgbClr val="15243A"/>
                </a:solidFill>
                <a:latin typeface="Arial"/>
                <a:ea typeface="Arial"/>
                <a:cs typeface="Arial"/>
              </a:rPr>
              <a:t>area / aspect / depth</a:t>
            </a:r>
          </a:p>
        </p:txBody>
      </p:sp>
      <p:sp>
        <p:nvSpPr>
          <p:cNvPr id="10" name="">
            <a:extLst xmlns:a="http://schemas.openxmlformats.org/drawingml/2006/main">
              <a:ext uri="{FF2B5EF4-FFF2-40B4-BE49-F238E27FC236}">
                <a16:creationId xmlns:a16="http://schemas.microsoft.com/office/drawing/2014/main" id="{85C9AB5B-F3CC-45B2-B3C3-3BE55D958658}"/>
              </a:ext>
            </a:extLst>
          </p:cNvPr>
          <p:cNvSpPr>
            <a:spLocks xmlns:a="http://schemas.openxmlformats.org/drawingml/2006/main" noGrp="1"/>
          </p:cNvSpPr>
          <p:nvPr/>
        </p:nvSpPr>
        <p:spPr>
          <a:xfrm xmlns:a="http://schemas.openxmlformats.org/drawingml/2006/main">
            <a:off x="9010650" y="2286000"/>
            <a:ext cx="381000" cy="238125"/>
          </a:xfrm>
          <a:prstGeom xmlns:a="http://schemas.openxmlformats.org/drawingml/2006/main" prst="rightArrow">
            <a:avLst/>
          </a:prstGeom>
          <a:solidFill xmlns:a="http://schemas.openxmlformats.org/drawingml/2006/main">
            <a:srgbClr val="007D7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0778935-C7A3-4108-B53D-4B52C1268200}"/>
              </a:ext>
            </a:extLst>
          </p:cNvPr>
          <p:cNvSpPr>
            <a:spLocks xmlns:a="http://schemas.openxmlformats.org/drawingml/2006/main" noGrp="1"/>
          </p:cNvSpPr>
          <p:nvPr/>
        </p:nvSpPr>
        <p:spPr>
          <a:xfrm xmlns:a="http://schemas.openxmlformats.org/drawingml/2006/main">
            <a:off x="9563100" y="1981200"/>
            <a:ext cx="2095500" cy="895350"/>
          </a:xfrm>
          <a:prstGeom xmlns:a="http://schemas.openxmlformats.org/drawingml/2006/main" prst="rect">
            <a:avLst/>
          </a:prstGeom>
          <a:solidFill xmlns:a="http://schemas.openxmlformats.org/drawingml/2006/main">
            <a:srgbClr val="E4EFED"/>
          </a:solidFill>
          <a:ln xmlns:a="http://schemas.openxmlformats.org/drawingml/2006/main" w="9525">
            <a:solidFill>
              <a:srgbClr val="007D75"/>
            </a:solidFill>
          </a:ln>
        </p:spPr>
        <p:txBody>
          <a:bodyPr xmlns:a="http://schemas.openxmlformats.org/drawingml/2006/main"/>
          <a:lstStyle xmlns:a="http://schemas.openxmlformats.org/drawingml/2006/main">
            <a:defPPr>
              <a:defRPr sz="1725">
                <a:solidFill>
                  <a:srgbClr val="15243A"/>
                </a:solidFill>
                <a:latin typeface="Arial"/>
                <a:ea typeface="Arial"/>
                <a:cs typeface="Arial"/>
              </a:defRPr>
            </a:defPPr>
          </a:lstStyle>
          <a:p xmlns:a="http://schemas.openxmlformats.org/drawingml/2006/main">
            <a:pPr>
              <a:defRPr sz="1725">
                <a:solidFill>
                  <a:srgbClr val="15243A"/>
                </a:solidFill>
                <a:latin typeface="Arial"/>
                <a:ea typeface="Arial"/>
                <a:cs typeface="Arial"/>
              </a:defRPr>
            </a:pPr>
            <a:r>
              <a:rPr sz="1725">
                <a:solidFill>
                  <a:srgbClr val="15243A"/>
                </a:solidFill>
                <a:latin typeface="Arial"/>
                <a:ea typeface="Arial"/>
                <a:cs typeface="Arial"/>
              </a:rPr>
              <a:t>AUTO</a:t>
            </a:r>
          </a:p>
          <a:p xmlns:a="http://schemas.openxmlformats.org/drawingml/2006/main">
            <a:pPr>
              <a:defRPr sz="1725">
                <a:solidFill>
                  <a:srgbClr val="15243A"/>
                </a:solidFill>
                <a:latin typeface="Arial"/>
                <a:ea typeface="Arial"/>
                <a:cs typeface="Arial"/>
              </a:defRPr>
            </a:pPr>
            <a:r>
              <a:rPr sz="1725">
                <a:solidFill>
                  <a:srgbClr val="15243A"/>
                </a:solidFill>
                <a:latin typeface="Arial"/>
                <a:ea typeface="Arial"/>
                <a:cs typeface="Arial"/>
              </a:rPr>
              <a:t>IK + gắp + thùng</a:t>
            </a:r>
          </a:p>
        </p:txBody>
      </p:sp>
      <p:sp>
        <p:nvSpPr>
          <p:cNvPr id="12" name="Hình học: pixel + depth thành 3D">
            <a:extLst xmlns:a="http://schemas.openxmlformats.org/drawingml/2006/main">
              <a:ext uri="{FF2B5EF4-FFF2-40B4-BE49-F238E27FC236}">
                <a16:creationId xmlns:a16="http://schemas.microsoft.com/office/drawing/2014/main" id="{B051865E-0B5E-4CA6-84E4-B8B64D22885A}"/>
              </a:ext>
            </a:extLst>
          </p:cNvPr>
          <p:cNvSpPr>
            <a:spLocks xmlns:a="http://schemas.openxmlformats.org/drawingml/2006/main" noGrp="1"/>
          </p:cNvSpPr>
          <p:nvPr/>
        </p:nvSpPr>
        <p:spPr>
          <a:xfrm xmlns:a="http://schemas.openxmlformats.org/drawingml/2006/main">
            <a:off x="533400" y="32385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D75"/>
                </a:solidFill>
                <a:latin typeface="Arial"/>
                <a:ea typeface="Arial"/>
                <a:cs typeface="Arial"/>
              </a:defRPr>
            </a:defPPr>
          </a:lstStyle>
          <a:p xmlns:a="http://schemas.openxmlformats.org/drawingml/2006/main">
            <a:pPr>
              <a:defRPr sz="2025" b="1">
                <a:solidFill>
                  <a:srgbClr val="007D75"/>
                </a:solidFill>
                <a:latin typeface="Arial"/>
                <a:ea typeface="Arial"/>
                <a:cs typeface="Arial"/>
              </a:defRPr>
            </a:pPr>
            <a:r>
              <a:rPr sz="2025" b="1">
                <a:solidFill>
                  <a:srgbClr val="007D75"/>
                </a:solidFill>
                <a:latin typeface="Arial"/>
                <a:ea typeface="Arial"/>
                <a:cs typeface="Arial"/>
              </a:rPr>
              <a:t>Hình học: pixel + depth thành 3D</a:t>
            </a:r>
          </a:p>
        </p:txBody>
      </p:sp>
      <p:sp>
        <p:nvSpPr>
          <p:cNvPr id="13" name="">
            <a:extLst xmlns:a="http://schemas.openxmlformats.org/drawingml/2006/main">
              <a:ext uri="{FF2B5EF4-FFF2-40B4-BE49-F238E27FC236}">
                <a16:creationId xmlns:a16="http://schemas.microsoft.com/office/drawing/2014/main" id="{679E301A-AE4F-49F6-A18B-6B584E1CFA94}"/>
              </a:ext>
            </a:extLst>
          </p:cNvPr>
          <p:cNvSpPr>
            <a:spLocks xmlns:a="http://schemas.openxmlformats.org/drawingml/2006/main" noGrp="1"/>
          </p:cNvSpPr>
          <p:nvPr/>
        </p:nvSpPr>
        <p:spPr>
          <a:xfrm xmlns:a="http://schemas.openxmlformats.org/drawingml/2006/main">
            <a:off x="6591300" y="2990850"/>
            <a:ext cx="304800" cy="819150"/>
          </a:xfrm>
          <a:prstGeom xmlns:a="http://schemas.openxmlformats.org/drawingml/2006/main" prst="downArrow">
            <a:avLst/>
          </a:prstGeom>
          <a:solidFill xmlns:a="http://schemas.openxmlformats.org/drawingml/2006/main">
            <a:srgbClr val="007D75"/>
          </a:solidFill>
          <a:ln xmlns:a="http://schemas.openxmlformats.org/drawingml/2006/main" w="0">
            <a:noFill/>
          </a:ln>
        </p:spPr>
      </p:sp>
      <p:sp>
        <p:nvSpPr>
          <p:cNvPr id="14" name="suspicious">
            <a:extLst xmlns:a="http://schemas.openxmlformats.org/drawingml/2006/main">
              <a:ext uri="{FF2B5EF4-FFF2-40B4-BE49-F238E27FC236}">
                <a16:creationId xmlns:a16="http://schemas.microsoft.com/office/drawing/2014/main" id="{A41EEBFA-C004-4E99-8782-109A21C9823C}"/>
              </a:ext>
            </a:extLst>
          </p:cNvPr>
          <p:cNvSpPr>
            <a:spLocks xmlns:a="http://schemas.openxmlformats.org/drawingml/2006/main" noGrp="1"/>
          </p:cNvSpPr>
          <p:nvPr/>
        </p:nvSpPr>
        <p:spPr>
          <a:xfrm xmlns:a="http://schemas.openxmlformats.org/drawingml/2006/main">
            <a:off x="7067550" y="331470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07D75"/>
                </a:solidFill>
                <a:latin typeface="Arial"/>
                <a:ea typeface="Arial"/>
                <a:cs typeface="Arial"/>
              </a:defRPr>
            </a:defPPr>
          </a:lstStyle>
          <a:p xmlns:a="http://schemas.openxmlformats.org/drawingml/2006/main">
            <a:pPr>
              <a:defRPr sz="1800" b="1">
                <a:solidFill>
                  <a:srgbClr val="007D75"/>
                </a:solidFill>
                <a:latin typeface="Arial"/>
                <a:ea typeface="Arial"/>
                <a:cs typeface="Arial"/>
              </a:defRPr>
            </a:pPr>
            <a:r>
              <a:rPr sz="1800" b="1">
                <a:solidFill>
                  <a:srgbClr val="007D75"/>
                </a:solidFill>
                <a:latin typeface="Arial"/>
                <a:ea typeface="Arial"/>
                <a:cs typeface="Arial"/>
              </a:rPr>
              <a:t>suspicious</a:t>
            </a:r>
          </a:p>
        </p:txBody>
      </p:sp>
      <p:sp>
        <p:nvSpPr>
          <p:cNvPr id="15" name="">
            <a:extLst xmlns:a="http://schemas.openxmlformats.org/drawingml/2006/main">
              <a:ext uri="{FF2B5EF4-FFF2-40B4-BE49-F238E27FC236}">
                <a16:creationId xmlns:a16="http://schemas.microsoft.com/office/drawing/2014/main" id="{215B6A98-32ED-4E86-B106-6A8BADAC5D94}"/>
              </a:ext>
            </a:extLst>
          </p:cNvPr>
          <p:cNvSpPr>
            <a:spLocks xmlns:a="http://schemas.openxmlformats.org/drawingml/2006/main" noGrp="1"/>
          </p:cNvSpPr>
          <p:nvPr/>
        </p:nvSpPr>
        <p:spPr>
          <a:xfrm xmlns:a="http://schemas.openxmlformats.org/drawingml/2006/main">
            <a:off x="533400" y="3962400"/>
            <a:ext cx="2714625" cy="895350"/>
          </a:xfrm>
          <a:prstGeom xmlns:a="http://schemas.openxmlformats.org/drawingml/2006/main" prst="rect">
            <a:avLst/>
          </a:prstGeom>
          <a:solidFill xmlns:a="http://schemas.openxmlformats.org/drawingml/2006/main">
            <a:srgbClr val="E4EFED"/>
          </a:solidFill>
          <a:ln xmlns:a="http://schemas.openxmlformats.org/drawingml/2006/main" w="9525">
            <a:solidFill>
              <a:srgbClr val="007D75"/>
            </a:solidFill>
          </a:ln>
        </p:spPr>
        <p:txBody>
          <a:bodyPr xmlns:a="http://schemas.openxmlformats.org/drawingml/2006/main"/>
          <a:lstStyle xmlns:a="http://schemas.openxmlformats.org/drawingml/2006/main">
            <a:defPPr>
              <a:defRPr sz="1725">
                <a:solidFill>
                  <a:srgbClr val="15243A"/>
                </a:solidFill>
                <a:latin typeface="Arial"/>
                <a:ea typeface="Arial"/>
                <a:cs typeface="Arial"/>
              </a:defRPr>
            </a:defPPr>
          </a:lstStyle>
          <a:p xmlns:a="http://schemas.openxmlformats.org/drawingml/2006/main">
            <a:pPr>
              <a:defRPr sz="1725">
                <a:solidFill>
                  <a:srgbClr val="15243A"/>
                </a:solidFill>
                <a:latin typeface="Arial"/>
                <a:ea typeface="Arial"/>
                <a:cs typeface="Arial"/>
              </a:defRPr>
            </a:pPr>
            <a:r>
              <a:rPr sz="1725">
                <a:solidFill>
                  <a:srgbClr val="15243A"/>
                </a:solidFill>
                <a:latin typeface="Arial"/>
                <a:ea typeface="Arial"/>
                <a:cs typeface="Arial"/>
              </a:rPr>
              <a:t>Webcam / bàn phím</a:t>
            </a:r>
          </a:p>
          <a:p xmlns:a="http://schemas.openxmlformats.org/drawingml/2006/main">
            <a:pPr>
              <a:defRPr sz="1725">
                <a:solidFill>
                  <a:srgbClr val="15243A"/>
                </a:solidFill>
                <a:latin typeface="Arial"/>
                <a:ea typeface="Arial"/>
                <a:cs typeface="Arial"/>
              </a:defRPr>
            </a:pPr>
            <a:r>
              <a:rPr sz="1725">
                <a:solidFill>
                  <a:srgbClr val="15243A"/>
                </a:solidFill>
                <a:latin typeface="Arial"/>
                <a:ea typeface="Arial"/>
                <a:cs typeface="Arial"/>
              </a:rPr>
              <a:t>EMA + pinch</a:t>
            </a:r>
          </a:p>
        </p:txBody>
      </p:sp>
      <p:sp>
        <p:nvSpPr>
          <p:cNvPr id="16" name="">
            <a:extLst xmlns:a="http://schemas.openxmlformats.org/drawingml/2006/main">
              <a:ext uri="{FF2B5EF4-FFF2-40B4-BE49-F238E27FC236}">
                <a16:creationId xmlns:a16="http://schemas.microsoft.com/office/drawing/2014/main" id="{703B8496-C681-4A9B-89D8-1F888DF91366}"/>
              </a:ext>
            </a:extLst>
          </p:cNvPr>
          <p:cNvSpPr>
            <a:spLocks xmlns:a="http://schemas.openxmlformats.org/drawingml/2006/main" noGrp="1"/>
          </p:cNvSpPr>
          <p:nvPr/>
        </p:nvSpPr>
        <p:spPr>
          <a:xfrm xmlns:a="http://schemas.openxmlformats.org/drawingml/2006/main">
            <a:off x="3400425" y="4267200"/>
            <a:ext cx="400050" cy="238125"/>
          </a:xfrm>
          <a:prstGeom xmlns:a="http://schemas.openxmlformats.org/drawingml/2006/main" prst="rightArrow">
            <a:avLst/>
          </a:prstGeom>
          <a:solidFill xmlns:a="http://schemas.openxmlformats.org/drawingml/2006/main">
            <a:srgbClr val="007D7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1D7A5D0-39E5-4F58-87C1-ED94CCEDC144}"/>
              </a:ext>
            </a:extLst>
          </p:cNvPr>
          <p:cNvSpPr>
            <a:spLocks xmlns:a="http://schemas.openxmlformats.org/drawingml/2006/main" noGrp="1"/>
          </p:cNvSpPr>
          <p:nvPr/>
        </p:nvSpPr>
        <p:spPr>
          <a:xfrm xmlns:a="http://schemas.openxmlformats.org/drawingml/2006/main">
            <a:off x="3971925" y="3962400"/>
            <a:ext cx="2952750" cy="895350"/>
          </a:xfrm>
          <a:prstGeom xmlns:a="http://schemas.openxmlformats.org/drawingml/2006/main" prst="rect">
            <a:avLst/>
          </a:prstGeom>
          <a:solidFill xmlns:a="http://schemas.openxmlformats.org/drawingml/2006/main">
            <a:srgbClr val="E4EFED"/>
          </a:solidFill>
          <a:ln xmlns:a="http://schemas.openxmlformats.org/drawingml/2006/main" w="9525">
            <a:solidFill>
              <a:srgbClr val="007D75"/>
            </a:solidFill>
          </a:ln>
        </p:spPr>
        <p:txBody>
          <a:bodyPr xmlns:a="http://schemas.openxmlformats.org/drawingml/2006/main"/>
          <a:lstStyle xmlns:a="http://schemas.openxmlformats.org/drawingml/2006/main">
            <a:defPPr>
              <a:defRPr sz="1725">
                <a:solidFill>
                  <a:srgbClr val="15243A"/>
                </a:solidFill>
                <a:latin typeface="Arial"/>
                <a:ea typeface="Arial"/>
                <a:cs typeface="Arial"/>
              </a:defRPr>
            </a:defPPr>
          </a:lstStyle>
          <a:p xmlns:a="http://schemas.openxmlformats.org/drawingml/2006/main">
            <a:pPr>
              <a:defRPr sz="1725">
                <a:solidFill>
                  <a:srgbClr val="15243A"/>
                </a:solidFill>
                <a:latin typeface="Arial"/>
                <a:ea typeface="Arial"/>
                <a:cs typeface="Arial"/>
              </a:defRPr>
            </a:pPr>
            <a:r>
              <a:rPr sz="1725">
                <a:solidFill>
                  <a:srgbClr val="15243A"/>
                </a:solidFill>
                <a:latin typeface="Arial"/>
                <a:ea typeface="Arial"/>
                <a:cs typeface="Arial"/>
              </a:rPr>
              <a:t>TELEOP</a:t>
            </a:r>
          </a:p>
          <a:p xmlns:a="http://schemas.openxmlformats.org/drawingml/2006/main">
            <a:pPr>
              <a:defRPr sz="1725">
                <a:solidFill>
                  <a:srgbClr val="15243A"/>
                </a:solidFill>
                <a:latin typeface="Arial"/>
                <a:ea typeface="Arial"/>
                <a:cs typeface="Arial"/>
              </a:defRPr>
            </a:pPr>
            <a:r>
              <a:rPr sz="1725">
                <a:solidFill>
                  <a:srgbClr val="15243A"/>
                </a:solidFill>
                <a:latin typeface="Arial"/>
                <a:ea typeface="Arial"/>
                <a:cs typeface="Arial"/>
              </a:rPr>
              <a:t>Tách vật nhập nhằng</a:t>
            </a:r>
          </a:p>
        </p:txBody>
      </p:sp>
      <p:sp>
        <p:nvSpPr>
          <p:cNvPr id="18" name="">
            <a:extLst xmlns:a="http://schemas.openxmlformats.org/drawingml/2006/main">
              <a:ext uri="{FF2B5EF4-FFF2-40B4-BE49-F238E27FC236}">
                <a16:creationId xmlns:a16="http://schemas.microsoft.com/office/drawing/2014/main" id="{710694BB-920E-4F15-B55E-60414576B312}"/>
              </a:ext>
            </a:extLst>
          </p:cNvPr>
          <p:cNvSpPr>
            <a:spLocks xmlns:a="http://schemas.openxmlformats.org/drawingml/2006/main" noGrp="1"/>
          </p:cNvSpPr>
          <p:nvPr/>
        </p:nvSpPr>
        <p:spPr>
          <a:xfrm xmlns:a="http://schemas.openxmlformats.org/drawingml/2006/main">
            <a:off x="7077075" y="4267200"/>
            <a:ext cx="400050" cy="238125"/>
          </a:xfrm>
          <a:prstGeom xmlns:a="http://schemas.openxmlformats.org/drawingml/2006/main" prst="rightArrow">
            <a:avLst/>
          </a:prstGeom>
          <a:solidFill xmlns:a="http://schemas.openxmlformats.org/drawingml/2006/main">
            <a:srgbClr val="007D7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72DD91E-ED0D-464F-A273-568FFB0F3C4E}"/>
              </a:ext>
            </a:extLst>
          </p:cNvPr>
          <p:cNvSpPr>
            <a:spLocks xmlns:a="http://schemas.openxmlformats.org/drawingml/2006/main" noGrp="1"/>
          </p:cNvSpPr>
          <p:nvPr/>
        </p:nvSpPr>
        <p:spPr>
          <a:xfrm xmlns:a="http://schemas.openxmlformats.org/drawingml/2006/main">
            <a:off x="7648575" y="3962400"/>
            <a:ext cx="4010025" cy="895350"/>
          </a:xfrm>
          <a:prstGeom xmlns:a="http://schemas.openxmlformats.org/drawingml/2006/main" prst="rect">
            <a:avLst/>
          </a:prstGeom>
          <a:solidFill xmlns:a="http://schemas.openxmlformats.org/drawingml/2006/main">
            <a:srgbClr val="E4EFED"/>
          </a:solidFill>
          <a:ln xmlns:a="http://schemas.openxmlformats.org/drawingml/2006/main" w="9525">
            <a:solidFill>
              <a:srgbClr val="007D75"/>
            </a:solidFill>
          </a:ln>
        </p:spPr>
        <p:txBody>
          <a:bodyPr xmlns:a="http://schemas.openxmlformats.org/drawingml/2006/main"/>
          <a:lstStyle xmlns:a="http://schemas.openxmlformats.org/drawingml/2006/main">
            <a:defPPr>
              <a:defRPr sz="1725">
                <a:solidFill>
                  <a:srgbClr val="15243A"/>
                </a:solidFill>
                <a:latin typeface="Arial"/>
                <a:ea typeface="Arial"/>
                <a:cs typeface="Arial"/>
              </a:defRPr>
            </a:defPPr>
          </a:lstStyle>
          <a:p xmlns:a="http://schemas.openxmlformats.org/drawingml/2006/main">
            <a:pPr>
              <a:defRPr sz="1725">
                <a:solidFill>
                  <a:srgbClr val="15243A"/>
                </a:solidFill>
                <a:latin typeface="Arial"/>
                <a:ea typeface="Arial"/>
                <a:cs typeface="Arial"/>
              </a:defRPr>
            </a:pPr>
            <a:r>
              <a:rPr sz="1725">
                <a:solidFill>
                  <a:srgbClr val="15243A"/>
                </a:solidFill>
                <a:latin typeface="Arial"/>
                <a:ea typeface="Arial"/>
                <a:cs typeface="Arial"/>
              </a:rPr>
              <a:t>Phím a</a:t>
            </a:r>
          </a:p>
          <a:p xmlns:a="http://schemas.openxmlformats.org/drawingml/2006/main">
            <a:pPr>
              <a:defRPr sz="1725">
                <a:solidFill>
                  <a:srgbClr val="15243A"/>
                </a:solidFill>
                <a:latin typeface="Arial"/>
                <a:ea typeface="Arial"/>
                <a:cs typeface="Arial"/>
              </a:defRPr>
            </a:pPr>
            <a:r>
              <a:rPr sz="1725">
                <a:solidFill>
                  <a:srgbClr val="15243A"/>
                </a:solidFill>
                <a:latin typeface="Arial"/>
                <a:ea typeface="Arial"/>
                <a:cs typeface="Arial"/>
              </a:rPr>
              <a:t>Quét lại và về AUTO</a:t>
            </a:r>
          </a:p>
        </p:txBody>
      </p:sp>
      <p:sp>
        <p:nvSpPr>
          <p:cNvPr id="20" name="Bất định: suspicious gọi người vận hành, mất ">
            <a:extLst xmlns:a="http://schemas.openxmlformats.org/drawingml/2006/main">
              <a:ext uri="{FF2B5EF4-FFF2-40B4-BE49-F238E27FC236}">
                <a16:creationId xmlns:a16="http://schemas.microsoft.com/office/drawing/2014/main" id="{D1F493B6-B254-4CC2-B82E-1D1BAD365C60}"/>
              </a:ext>
            </a:extLst>
          </p:cNvPr>
          <p:cNvSpPr>
            <a:spLocks xmlns:a="http://schemas.openxmlformats.org/drawingml/2006/main" noGrp="1"/>
          </p:cNvSpPr>
          <p:nvPr/>
        </p:nvSpPr>
        <p:spPr>
          <a:xfrm xmlns:a="http://schemas.openxmlformats.org/drawingml/2006/main">
            <a:off x="533400" y="5248275"/>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26277"/>
                </a:solidFill>
                <a:latin typeface="Arial"/>
                <a:ea typeface="Arial"/>
                <a:cs typeface="Arial"/>
              </a:defRPr>
            </a:defPPr>
          </a:lstStyle>
          <a:p xmlns:a="http://schemas.openxmlformats.org/drawingml/2006/main">
            <a:pPr>
              <a:defRPr sz="1800" b="0">
                <a:solidFill>
                  <a:srgbClr val="526277"/>
                </a:solidFill>
                <a:latin typeface="Arial"/>
                <a:ea typeface="Arial"/>
                <a:cs typeface="Arial"/>
              </a:defRPr>
            </a:pPr>
            <a:r>
              <a:rPr sz="1800" b="0">
                <a:solidFill>
                  <a:srgbClr val="526277"/>
                </a:solidFill>
                <a:latin typeface="Arial"/>
                <a:ea typeface="Arial"/>
                <a:cs typeface="Arial"/>
              </a:rPr>
              <a:t>Bất định: suspicious gọi người vận hành, mất tay giữ vật</a:t>
            </a:r>
          </a:p>
          <a:p xmlns:a="http://schemas.openxmlformats.org/drawingml/2006/main">
            <a:pPr>
              <a:defRPr sz="1800" b="0">
                <a:solidFill>
                  <a:srgbClr val="526277"/>
                </a:solidFill>
                <a:latin typeface="Arial"/>
                <a:ea typeface="Arial"/>
                <a:cs typeface="Arial"/>
              </a:defRPr>
            </a:pPr>
            <a:r>
              <a:rPr sz="1800" b="0">
                <a:solidFill>
                  <a:srgbClr val="526277"/>
                </a:solidFill>
                <a:latin typeface="Arial"/>
                <a:ea typeface="Arial"/>
                <a:cs typeface="Arial"/>
              </a:rPr>
              <a:t>Thời gian: EMA 0,3 và giới hạn bước 4,5 cm/frame</a:t>
            </a:r>
          </a:p>
          <a:p xmlns:a="http://schemas.openxmlformats.org/drawingml/2006/main">
            <a:pPr>
              <a:defRPr sz="1800" b="0">
                <a:solidFill>
                  <a:srgbClr val="526277"/>
                </a:solidFill>
                <a:latin typeface="Arial"/>
                <a:ea typeface="Arial"/>
                <a:cs typeface="Arial"/>
              </a:defRPr>
            </a:pPr>
            <a:r>
              <a:rPr sz="1800" b="0">
                <a:solidFill>
                  <a:srgbClr val="526277"/>
                </a:solidFill>
                <a:latin typeface="Arial"/>
                <a:ea typeface="Arial"/>
                <a:cs typeface="Arial"/>
              </a:rPr>
              <a:t>Bằng chứng: seed cố định, đối chiếu ground truth của engine</a:t>
            </a:r>
          </a:p>
        </p:txBody>
      </p:sp>
    </p:spTree>
    <p:extLst>
      <p:ext uri="{BB962C8B-B14F-4D97-AF65-F5344CB8AC3E}">
        <p14:creationId xmlns:p14="http://schemas.microsoft.com/office/powerpoint/2010/main" val="1157640899"/>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8" name="Số đo trong mô phỏng">
            <a:extLst xmlns:a="http://schemas.openxmlformats.org/drawingml/2006/main">
              <a:ext uri="{FF2B5EF4-FFF2-40B4-BE49-F238E27FC236}">
                <a16:creationId xmlns:a16="http://schemas.microsoft.com/office/drawing/2014/main" id="{C73627BF-861B-4905-84E2-E1F46EEB24B1}"/>
              </a:ext>
            </a:extLst>
          </p:cNvPr>
          <p:cNvSpPr>
            <a:spLocks xmlns:a="http://schemas.openxmlformats.org/drawingml/2006/main" noGrp="1"/>
          </p:cNvSpPr>
          <p:nvPr/>
        </p:nvSpPr>
        <p:spPr>
          <a:xfrm xmlns:a="http://schemas.openxmlformats.org/drawingml/2006/main">
            <a:off x="533400" y="4286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43A"/>
                </a:solidFill>
                <a:latin typeface="Arial"/>
                <a:ea typeface="Arial"/>
                <a:cs typeface="Arial"/>
              </a:defRPr>
            </a:defPPr>
          </a:lstStyle>
          <a:p xmlns:a="http://schemas.openxmlformats.org/drawingml/2006/main">
            <a:pPr>
              <a:defRPr sz="3225" b="1">
                <a:solidFill>
                  <a:srgbClr val="15243A"/>
                </a:solidFill>
                <a:latin typeface="Arial"/>
                <a:ea typeface="Arial"/>
                <a:cs typeface="Arial"/>
              </a:defRPr>
            </a:pPr>
            <a:r>
              <a:rPr sz="3225" b="1">
                <a:solidFill>
                  <a:srgbClr val="15243A"/>
                </a:solidFill>
                <a:latin typeface="Arial"/>
                <a:ea typeface="Arial"/>
                <a:cs typeface="Arial"/>
              </a:rPr>
              <a:t>Số đo trong mô phỏng</a:t>
            </a:r>
          </a:p>
        </p:txBody>
      </p:sp>
      <p:sp>
        <p:nvSpPr>
          <p:cNvPr id="2" name="20 seed thường, 120 vật · 5 seed lỗi · Đối ch">
            <a:extLst xmlns:a="http://schemas.openxmlformats.org/drawingml/2006/main">
              <a:ext uri="{FF2B5EF4-FFF2-40B4-BE49-F238E27FC236}">
                <a16:creationId xmlns:a16="http://schemas.microsoft.com/office/drawing/2014/main" id="{F48EA140-E1EA-4655-A9B4-4E5208903511}"/>
              </a:ext>
            </a:extLst>
          </p:cNvPr>
          <p:cNvSpPr>
            <a:spLocks xmlns:a="http://schemas.openxmlformats.org/drawingml/2006/main" noGrp="1"/>
          </p:cNvSpPr>
          <p:nvPr/>
        </p:nvSpPr>
        <p:spPr>
          <a:xfrm xmlns:a="http://schemas.openxmlformats.org/drawingml/2006/main">
            <a:off x="533400" y="11620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277"/>
                </a:solidFill>
                <a:latin typeface="Arial"/>
                <a:ea typeface="Arial"/>
                <a:cs typeface="Arial"/>
              </a:defRPr>
            </a:defPPr>
          </a:lstStyle>
          <a:p xmlns:a="http://schemas.openxmlformats.org/drawingml/2006/main">
            <a:pPr>
              <a:defRPr sz="1650" b="0">
                <a:solidFill>
                  <a:srgbClr val="526277"/>
                </a:solidFill>
                <a:latin typeface="Arial"/>
                <a:ea typeface="Arial"/>
                <a:cs typeface="Arial"/>
              </a:defRPr>
            </a:pPr>
            <a:r>
              <a:rPr sz="1650" b="0">
                <a:solidFill>
                  <a:srgbClr val="526277"/>
                </a:solidFill>
                <a:latin typeface="Arial"/>
                <a:ea typeface="Arial"/>
                <a:cs typeface="Arial"/>
              </a:rPr>
              <a:t>20 seed thường, 120 vật · 5 seed lỗi · Đối chiếu ground truth PyBullet</a:t>
            </a:r>
          </a:p>
        </p:txBody>
      </p:sp>
      <p:sp>
        <p:nvSpPr>
          <p:cNvPr id="3" name="VinSort · Track 4 · 16/10/2026">
            <a:extLst xmlns:a="http://schemas.openxmlformats.org/drawingml/2006/main">
              <a:ext uri="{FF2B5EF4-FFF2-40B4-BE49-F238E27FC236}">
                <a16:creationId xmlns:a16="http://schemas.microsoft.com/office/drawing/2014/main" id="{187F2D3F-21F4-41FD-8FB3-6CDC77C61C08}"/>
              </a:ext>
            </a:extLst>
          </p:cNvPr>
          <p:cNvSpPr>
            <a:spLocks xmlns:a="http://schemas.openxmlformats.org/drawingml/2006/main" noGrp="1"/>
          </p:cNvSpPr>
          <p:nvPr/>
        </p:nvSpPr>
        <p:spPr>
          <a:xfrm xmlns:a="http://schemas.openxmlformats.org/drawingml/2006/main">
            <a:off x="533400" y="646747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277"/>
                </a:solidFill>
                <a:latin typeface="Arial"/>
                <a:ea typeface="Arial"/>
                <a:cs typeface="Arial"/>
              </a:defRPr>
            </a:defPPr>
          </a:lstStyle>
          <a:p xmlns:a="http://schemas.openxmlformats.org/drawingml/2006/main">
            <a:pPr>
              <a:defRPr sz="1200" b="0">
                <a:solidFill>
                  <a:srgbClr val="526277"/>
                </a:solidFill>
                <a:latin typeface="Arial"/>
                <a:ea typeface="Arial"/>
                <a:cs typeface="Arial"/>
              </a:defRPr>
            </a:pPr>
            <a:r>
              <a:rPr sz="1200" b="0">
                <a:solidFill>
                  <a:srgbClr val="526277"/>
                </a:solidFill>
                <a:latin typeface="Arial"/>
                <a:ea typeface="Arial"/>
                <a:cs typeface="Arial"/>
              </a:rPr>
              <a:t>VinSort · Track 4 · 16/10/2026</a:t>
            </a:r>
          </a:p>
        </p:txBody>
      </p:sp>
      <p:sp>
        <p:nvSpPr>
          <p:cNvPr id="4" name="3/6">
            <a:extLst xmlns:a="http://schemas.openxmlformats.org/drawingml/2006/main">
              <a:ext uri="{FF2B5EF4-FFF2-40B4-BE49-F238E27FC236}">
                <a16:creationId xmlns:a16="http://schemas.microsoft.com/office/drawing/2014/main" id="{0EE921AA-DA38-43C2-98CC-4B70F15CD631}"/>
              </a:ext>
            </a:extLst>
          </p:cNvPr>
          <p:cNvSpPr>
            <a:spLocks xmlns:a="http://schemas.openxmlformats.org/drawingml/2006/main" noGrp="1"/>
          </p:cNvSpPr>
          <p:nvPr/>
        </p:nvSpPr>
        <p:spPr>
          <a:xfrm xmlns:a="http://schemas.openxmlformats.org/drawingml/2006/main">
            <a:off x="11182350" y="64674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277"/>
                </a:solidFill>
                <a:latin typeface="Arial"/>
                <a:ea typeface="Arial"/>
                <a:cs typeface="Arial"/>
              </a:defRPr>
            </a:defPPr>
          </a:lstStyle>
          <a:p xmlns:a="http://schemas.openxmlformats.org/drawingml/2006/main">
            <a:pPr>
              <a:defRPr sz="1200" b="0">
                <a:solidFill>
                  <a:srgbClr val="526277"/>
                </a:solidFill>
                <a:latin typeface="Arial"/>
                <a:ea typeface="Arial"/>
                <a:cs typeface="Arial"/>
              </a:defRPr>
            </a:pPr>
            <a:r>
              <a:rPr sz="1200" b="0">
                <a:solidFill>
                  <a:srgbClr val="526277"/>
                </a:solidFill>
                <a:latin typeface="Arial"/>
                <a:ea typeface="Arial"/>
                <a:cs typeface="Arial"/>
              </a:rPr>
              <a:t>3/6</a:t>
            </a:r>
          </a:p>
        </p:txBody>
      </p:sp>
      <p:graphicFrame>
        <p:nvGraphicFramePr>
          <p:cNvPr id="5" name="">
            <a:extLst xmlns:a="http://schemas.openxmlformats.org/drawingml/2006/main">
              <a:ext uri="{FF2B5EF4-FFF2-40B4-BE49-F238E27FC236}">
                <a16:creationId xmlns:a16="http://schemas.microsoft.com/office/drawing/2014/main" id="{90702A29-3D56-41D8-A006-82EECB1DBCB0}"/>
              </a:ext>
            </a:extLst>
          </p:cNvPr>
          <p:cNvGraphicFramePr/>
          <p:nvPr/>
        </p:nvGraphicFramePr>
        <p:xfrm>
          <a:off xmlns:a="http://schemas.openxmlformats.org/drawingml/2006/main" x="533400" y="1828800"/>
          <a:ext xmlns:a="http://schemas.openxmlformats.org/drawingml/2006/main" cx="5695950" cy="3009900"/>
        </p:xfrm>
        <a:graphic xmlns:a="http://schemas.openxmlformats.org/drawingml/2006/main">
          <a:graphicData uri="http://schemas.openxmlformats.org/drawingml/2006/table">
            <a:tbl>
              <a:tblPr/>
              <a:tblGrid>
                <a:gridCol w="2952750"/>
                <a:gridCol w="1371600"/>
                <a:gridCol w="1371600"/>
              </a:tblGrid>
              <a:tr h="501650">
                <a:tc>
                  <a:txBody>
                    <a:bodyPr/>
                    <a:lstStyle/>
                    <a:p>
                      <a:r>
                        <a:rPr sz="1725" b="1">
                          <a:solidFill>
                            <a:srgbClr val="FFFFFF"/>
                          </a:solidFill>
                          <a:latin typeface="Arial"/>
                          <a:ea typeface="Arial"/>
                          <a:cs typeface="Arial"/>
                        </a:rPr>
                        <a:t>Chỉ số</a:t>
                      </a:r>
                    </a:p>
                  </a:txBody>
                  <a:tcPr marL="91440" marR="91440" marT="45720" marB="45720">
                    <a:solidFill>
                      <a:srgbClr val="15243A"/>
                    </a:solidFill>
                  </a:tcPr>
                </a:tc>
                <a:tc>
                  <a:txBody>
                    <a:bodyPr/>
                    <a:lstStyle/>
                    <a:p>
                      <a:r>
                        <a:rPr sz="1725" b="1">
                          <a:solidFill>
                            <a:srgbClr val="FFFFFF"/>
                          </a:solidFill>
                          <a:latin typeface="Arial"/>
                          <a:ea typeface="Arial"/>
                          <a:cs typeface="Arial"/>
                        </a:rPr>
                        <a:t>Sạch</a:t>
                      </a:r>
                    </a:p>
                  </a:txBody>
                  <a:tcPr marL="91440" marR="91440" marT="45720" marB="45720">
                    <a:solidFill>
                      <a:srgbClr val="15243A"/>
                    </a:solidFill>
                  </a:tcPr>
                </a:tc>
                <a:tc>
                  <a:txBody>
                    <a:bodyPr/>
                    <a:lstStyle/>
                    <a:p>
                      <a:r>
                        <a:rPr sz="1725" b="1">
                          <a:solidFill>
                            <a:srgbClr val="FFFFFF"/>
                          </a:solidFill>
                          <a:latin typeface="Arial"/>
                          <a:ea typeface="Arial"/>
                          <a:cs typeface="Arial"/>
                        </a:rPr>
                        <a:t>Nhiễu</a:t>
                      </a:r>
                    </a:p>
                  </a:txBody>
                  <a:tcPr marL="91440" marR="91440" marT="45720" marB="45720">
                    <a:solidFill>
                      <a:srgbClr val="15243A"/>
                    </a:solidFill>
                  </a:tcPr>
                </a:tc>
              </a:tr>
              <a:tr h="501650">
                <a:tc>
                  <a:txBody>
                    <a:bodyPr/>
                    <a:lstStyle/>
                    <a:p>
                      <a:r>
                        <a:rPr sz="1725" b="0">
                          <a:solidFill>
                            <a:srgbClr val="15243A"/>
                          </a:solidFill>
                          <a:latin typeface="Arial"/>
                          <a:ea typeface="Arial"/>
                          <a:cs typeface="Arial"/>
                        </a:rPr>
                        <a:t>Recall</a:t>
                      </a:r>
                    </a:p>
                  </a:txBody>
                  <a:tcPr marL="91440" marR="91440" marT="45720" marB="45720">
                    <a:solidFill>
                      <a:srgbClr val="FFFFFF"/>
                    </a:solidFill>
                  </a:tcPr>
                </a:tc>
                <a:tc>
                  <a:txBody>
                    <a:bodyPr/>
                    <a:lstStyle/>
                    <a:p>
                      <a:r>
                        <a:rPr sz="1725" b="0">
                          <a:solidFill>
                            <a:srgbClr val="15243A"/>
                          </a:solidFill>
                          <a:latin typeface="Arial"/>
                          <a:ea typeface="Arial"/>
                          <a:cs typeface="Arial"/>
                        </a:rPr>
                        <a:t>120/120</a:t>
                      </a:r>
                    </a:p>
                  </a:txBody>
                  <a:tcPr marL="91440" marR="91440" marT="45720" marB="45720">
                    <a:solidFill>
                      <a:srgbClr val="FFFFFF"/>
                    </a:solidFill>
                  </a:tcPr>
                </a:tc>
                <a:tc>
                  <a:txBody>
                    <a:bodyPr/>
                    <a:lstStyle/>
                    <a:p>
                      <a:r>
                        <a:rPr sz="1725" b="0">
                          <a:solidFill>
                            <a:srgbClr val="15243A"/>
                          </a:solidFill>
                          <a:latin typeface="Arial"/>
                          <a:ea typeface="Arial"/>
                          <a:cs typeface="Arial"/>
                        </a:rPr>
                        <a:t>120/120</a:t>
                      </a:r>
                    </a:p>
                  </a:txBody>
                  <a:tcPr marL="91440" marR="91440" marT="45720" marB="45720">
                    <a:solidFill>
                      <a:srgbClr val="FFFFFF"/>
                    </a:solidFill>
                  </a:tcPr>
                </a:tc>
              </a:tr>
              <a:tr h="501650">
                <a:tc>
                  <a:txBody>
                    <a:bodyPr/>
                    <a:lstStyle/>
                    <a:p>
                      <a:r>
                        <a:rPr sz="1725" b="0">
                          <a:solidFill>
                            <a:srgbClr val="15243A"/>
                          </a:solidFill>
                          <a:latin typeface="Arial"/>
                          <a:ea typeface="Arial"/>
                          <a:cs typeface="Arial"/>
                        </a:rPr>
                        <a:t>False positive</a:t>
                      </a:r>
                    </a:p>
                  </a:txBody>
                  <a:tcPr marL="91440" marR="91440" marT="45720" marB="45720">
                    <a:solidFill>
                      <a:srgbClr val="EAF0F3"/>
                    </a:solidFill>
                  </a:tcPr>
                </a:tc>
                <a:tc>
                  <a:txBody>
                    <a:bodyPr/>
                    <a:lstStyle/>
                    <a:p>
                      <a:r>
                        <a:rPr sz="1725" b="0">
                          <a:solidFill>
                            <a:srgbClr val="15243A"/>
                          </a:solidFill>
                          <a:latin typeface="Arial"/>
                          <a:ea typeface="Arial"/>
                          <a:cs typeface="Arial"/>
                        </a:rPr>
                        <a:t>0</a:t>
                      </a:r>
                    </a:p>
                  </a:txBody>
                  <a:tcPr marL="91440" marR="91440" marT="45720" marB="45720">
                    <a:solidFill>
                      <a:srgbClr val="EAF0F3"/>
                    </a:solidFill>
                  </a:tcPr>
                </a:tc>
                <a:tc>
                  <a:txBody>
                    <a:bodyPr/>
                    <a:lstStyle/>
                    <a:p>
                      <a:r>
                        <a:rPr sz="1725" b="0">
                          <a:solidFill>
                            <a:srgbClr val="15243A"/>
                          </a:solidFill>
                          <a:latin typeface="Arial"/>
                          <a:ea typeface="Arial"/>
                          <a:cs typeface="Arial"/>
                        </a:rPr>
                        <a:t>0</a:t>
                      </a:r>
                    </a:p>
                  </a:txBody>
                  <a:tcPr marL="91440" marR="91440" marT="45720" marB="45720">
                    <a:solidFill>
                      <a:srgbClr val="EAF0F3"/>
                    </a:solidFill>
                  </a:tcPr>
                </a:tc>
              </a:tr>
              <a:tr h="501650">
                <a:tc>
                  <a:txBody>
                    <a:bodyPr/>
                    <a:lstStyle/>
                    <a:p>
                      <a:r>
                        <a:rPr sz="1725" b="0">
                          <a:solidFill>
                            <a:srgbClr val="15243A"/>
                          </a:solidFill>
                          <a:latin typeface="Arial"/>
                          <a:ea typeface="Arial"/>
                          <a:cs typeface="Arial"/>
                        </a:rPr>
                        <a:t>XY TB (mm)</a:t>
                      </a:r>
                    </a:p>
                  </a:txBody>
                  <a:tcPr marL="91440" marR="91440" marT="45720" marB="45720">
                    <a:solidFill>
                      <a:srgbClr val="FFFFFF"/>
                    </a:solidFill>
                  </a:tcPr>
                </a:tc>
                <a:tc>
                  <a:txBody>
                    <a:bodyPr/>
                    <a:lstStyle/>
                    <a:p>
                      <a:r>
                        <a:rPr sz="1725" b="0">
                          <a:solidFill>
                            <a:srgbClr val="15243A"/>
                          </a:solidFill>
                          <a:latin typeface="Arial"/>
                          <a:ea typeface="Arial"/>
                          <a:cs typeface="Arial"/>
                        </a:rPr>
                        <a:t>2.55</a:t>
                      </a:r>
                    </a:p>
                  </a:txBody>
                  <a:tcPr marL="91440" marR="91440" marT="45720" marB="45720">
                    <a:solidFill>
                      <a:srgbClr val="FFFFFF"/>
                    </a:solidFill>
                  </a:tcPr>
                </a:tc>
                <a:tc>
                  <a:txBody>
                    <a:bodyPr/>
                    <a:lstStyle/>
                    <a:p>
                      <a:r>
                        <a:rPr sz="1725" b="0">
                          <a:solidFill>
                            <a:srgbClr val="15243A"/>
                          </a:solidFill>
                          <a:latin typeface="Arial"/>
                          <a:ea typeface="Arial"/>
                          <a:cs typeface="Arial"/>
                        </a:rPr>
                        <a:t>2.55</a:t>
                      </a:r>
                    </a:p>
                  </a:txBody>
                  <a:tcPr marL="91440" marR="91440" marT="45720" marB="45720">
                    <a:solidFill>
                      <a:srgbClr val="FFFFFF"/>
                    </a:solidFill>
                  </a:tcPr>
                </a:tc>
              </a:tr>
              <a:tr h="501650">
                <a:tc>
                  <a:txBody>
                    <a:bodyPr/>
                    <a:lstStyle/>
                    <a:p>
                      <a:r>
                        <a:rPr sz="1725" b="0">
                          <a:solidFill>
                            <a:srgbClr val="15243A"/>
                          </a:solidFill>
                          <a:latin typeface="Arial"/>
                          <a:ea typeface="Arial"/>
                          <a:cs typeface="Arial"/>
                        </a:rPr>
                        <a:t>Đúng thùng</a:t>
                      </a:r>
                    </a:p>
                  </a:txBody>
                  <a:tcPr marL="91440" marR="91440" marT="45720" marB="45720">
                    <a:solidFill>
                      <a:srgbClr val="EAF0F3"/>
                    </a:solidFill>
                  </a:tcPr>
                </a:tc>
                <a:tc>
                  <a:txBody>
                    <a:bodyPr/>
                    <a:lstStyle/>
                    <a:p>
                      <a:r>
                        <a:rPr sz="1725" b="0">
                          <a:solidFill>
                            <a:srgbClr val="15243A"/>
                          </a:solidFill>
                          <a:latin typeface="Arial"/>
                          <a:ea typeface="Arial"/>
                          <a:cs typeface="Arial"/>
                        </a:rPr>
                        <a:t>120/120</a:t>
                      </a:r>
                    </a:p>
                  </a:txBody>
                  <a:tcPr marL="91440" marR="91440" marT="45720" marB="45720">
                    <a:solidFill>
                      <a:srgbClr val="EAF0F3"/>
                    </a:solidFill>
                  </a:tcPr>
                </a:tc>
                <a:tc>
                  <a:txBody>
                    <a:bodyPr/>
                    <a:lstStyle/>
                    <a:p>
                      <a:r>
                        <a:rPr sz="1725" b="0">
                          <a:solidFill>
                            <a:srgbClr val="15243A"/>
                          </a:solidFill>
                          <a:latin typeface="Arial"/>
                          <a:ea typeface="Arial"/>
                          <a:cs typeface="Arial"/>
                        </a:rPr>
                        <a:t>120/120</a:t>
                      </a:r>
                    </a:p>
                  </a:txBody>
                  <a:tcPr marL="91440" marR="91440" marT="45720" marB="45720">
                    <a:solidFill>
                      <a:srgbClr val="EAF0F3"/>
                    </a:solidFill>
                  </a:tcPr>
                </a:tc>
              </a:tr>
              <a:tr h="501650">
                <a:tc>
                  <a:txBody>
                    <a:bodyPr/>
                    <a:lstStyle/>
                    <a:p>
                      <a:r>
                        <a:rPr sz="1725" b="0">
                          <a:solidFill>
                            <a:srgbClr val="15243A"/>
                          </a:solidFill>
                          <a:latin typeface="Arial"/>
                          <a:ea typeface="Arial"/>
                          <a:cs typeface="Arial"/>
                        </a:rPr>
                        <a:t>Cờ lỗi / báo nhầm</a:t>
                      </a:r>
                    </a:p>
                  </a:txBody>
                  <a:tcPr marL="91440" marR="91440" marT="45720" marB="45720">
                    <a:solidFill>
                      <a:srgbClr val="FFFFFF"/>
                    </a:solidFill>
                  </a:tcPr>
                </a:tc>
                <a:tc>
                  <a:txBody>
                    <a:bodyPr/>
                    <a:lstStyle/>
                    <a:p>
                      <a:r>
                        <a:rPr sz="1725" b="0">
                          <a:solidFill>
                            <a:srgbClr val="15243A"/>
                          </a:solidFill>
                          <a:latin typeface="Arial"/>
                          <a:ea typeface="Arial"/>
                          <a:cs typeface="Arial"/>
                        </a:rPr>
                        <a:t>5/5 / 0</a:t>
                      </a:r>
                    </a:p>
                  </a:txBody>
                  <a:tcPr marL="91440" marR="91440" marT="45720" marB="45720">
                    <a:solidFill>
                      <a:srgbClr val="FFFFFF"/>
                    </a:solidFill>
                  </a:tcPr>
                </a:tc>
                <a:tc>
                  <a:txBody>
                    <a:bodyPr/>
                    <a:lstStyle/>
                    <a:p>
                      <a:r>
                        <a:rPr sz="1725" b="0">
                          <a:solidFill>
                            <a:srgbClr val="15243A"/>
                          </a:solidFill>
                          <a:latin typeface="Arial"/>
                          <a:ea typeface="Arial"/>
                          <a:cs typeface="Arial"/>
                        </a:rPr>
                        <a:t>5/5 / 0</a:t>
                      </a:r>
                    </a:p>
                  </a:txBody>
                  <a:tcPr marL="91440" marR="91440" marT="45720" marB="45720">
                    <a:solidFill>
                      <a:srgbClr val="FFFFFF"/>
                    </a:solidFill>
                  </a:tcPr>
                </a:tc>
              </a:tr>
            </a:tbl>
          </a:graphicData>
        </a:graphic>
      </p:graphicFrame>
      <p:graphicFrame>
        <p:nvGraphicFramePr>
          <p:cNvPr id="6" name="Chart">
            <a:extLst xmlns:a="http://schemas.openxmlformats.org/drawingml/2006/main">
              <a:ext uri="{FF2B5EF4-FFF2-40B4-BE49-F238E27FC236}">
                <a16:creationId xmlns:a16="http://schemas.microsoft.com/office/drawing/2014/main" id="{AAA228B0-0455-48FE-BF14-234D65501BEA}"/>
              </a:ext>
            </a:extLst>
          </p:cNvPr>
          <p:cNvGraphicFramePr/>
          <p:nvPr/>
        </p:nvGraphicFramePr>
        <p:xfrm>
          <a:off xmlns:a="http://schemas.openxmlformats.org/drawingml/2006/main" x="6496050" y="1809750"/>
          <a:ext xmlns:a="http://schemas.openxmlformats.org/drawingml/2006/main" cx="5162550" cy="3067050"/>
        </p:xfrm>
        <a:graphic xmlns:a="http://schemas.openxmlformats.org/drawingml/2006/main">
          <a:graphicData uri="http://schemas.openxmlformats.org/drawingml/2006/chart">
            <c:chart xmlns:r="http://schemas.openxmlformats.org/officeDocument/2006/relationships" xmlns:c="http://schemas.openxmlformats.org/drawingml/2006/chart" r:id="R4c84fd3b9fe74aa1"/>
          </a:graphicData>
        </a:graphic>
      </p:graphicFrame>
      <p:sp>
        <p:nvSpPr>
          <p:cNvPr id="7" name="Recall: ghép cùng màu, gần nhất XY trong 20 m">
            <a:extLst xmlns:a="http://schemas.openxmlformats.org/drawingml/2006/main">
              <a:ext uri="{FF2B5EF4-FFF2-40B4-BE49-F238E27FC236}">
                <a16:creationId xmlns:a16="http://schemas.microsoft.com/office/drawing/2014/main" id="{860824C4-FF3F-4BF8-9682-AC767EF9F238}"/>
              </a:ext>
            </a:extLst>
          </p:cNvPr>
          <p:cNvSpPr>
            <a:spLocks xmlns:a="http://schemas.openxmlformats.org/drawingml/2006/main" noGrp="1"/>
          </p:cNvSpPr>
          <p:nvPr/>
        </p:nvSpPr>
        <p:spPr>
          <a:xfrm xmlns:a="http://schemas.openxmlformats.org/drawingml/2006/main">
            <a:off x="533400" y="5095875"/>
            <a:ext cx="111252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277"/>
                </a:solidFill>
                <a:latin typeface="Arial"/>
                <a:ea typeface="Arial"/>
                <a:cs typeface="Arial"/>
              </a:defRPr>
            </a:defPPr>
          </a:lstStyle>
          <a:p xmlns:a="http://schemas.openxmlformats.org/drawingml/2006/main">
            <a:pPr>
              <a:defRPr sz="1575" b="0">
                <a:solidFill>
                  <a:srgbClr val="526277"/>
                </a:solidFill>
                <a:latin typeface="Arial"/>
                <a:ea typeface="Arial"/>
                <a:cs typeface="Arial"/>
              </a:defRPr>
            </a:pPr>
            <a:r>
              <a:rPr sz="1575" b="0">
                <a:solidFill>
                  <a:srgbClr val="526277"/>
                </a:solidFill>
                <a:latin typeface="Arial"/>
                <a:ea typeface="Arial"/>
                <a:cs typeface="Arial"/>
              </a:rPr>
              <a:t>Recall: ghép cùng màu, gần nhất XY trong 20 mm. FP: phát hiện không ghép được.</a:t>
            </a:r>
          </a:p>
          <a:p xmlns:a="http://schemas.openxmlformats.org/drawingml/2006/main">
            <a:pPr>
              <a:defRPr sz="1575" b="0">
                <a:solidFill>
                  <a:srgbClr val="526277"/>
                </a:solidFill>
                <a:latin typeface="Arial"/>
                <a:ea typeface="Arial"/>
                <a:cs typeface="Arial"/>
              </a:defRPr>
            </a:pPr>
            <a:r>
              <a:rPr sz="1575" b="0">
                <a:solidFill>
                  <a:srgbClr val="526277"/>
                </a:solidFill>
                <a:latin typeface="Arial"/>
                <a:ea typeface="Arial"/>
                <a:cs typeface="Arial"/>
              </a:rPr>
              <a:t>XY: chuẩn Euclid trên cặp đã ghép. z: z phát hiện − (TABLE_Z + CUBE).</a:t>
            </a:r>
          </a:p>
          <a:p xmlns:a="http://schemas.openxmlformats.org/drawingml/2006/main">
            <a:pPr>
              <a:defRPr sz="1575" b="0">
                <a:solidFill>
                  <a:srgbClr val="526277"/>
                </a:solidFill>
                <a:latin typeface="Arial"/>
                <a:ea typeface="Arial"/>
                <a:cs typeface="Arial"/>
              </a:defRPr>
            </a:pPr>
            <a:r>
              <a:rPr sz="1575" b="0">
                <a:solidFill>
                  <a:srgbClr val="526277"/>
                </a:solidFill>
                <a:latin typeface="Arial"/>
                <a:ea typeface="Arial"/>
                <a:cs typeface="Arial"/>
              </a:rPr>
              <a:t>Đúng thùng: tâm XY trong thùng đúng màu / mọi vật. Cờ lỗi: seed có suspicious.</a:t>
            </a:r>
          </a:p>
          <a:p xmlns:a="http://schemas.openxmlformats.org/drawingml/2006/main">
            <a:pPr>
              <a:defRPr sz="1575" b="0">
                <a:solidFill>
                  <a:srgbClr val="526277"/>
                </a:solidFill>
                <a:latin typeface="Arial"/>
                <a:ea typeface="Arial"/>
                <a:cs typeface="Arial"/>
              </a:defRPr>
            </a:pPr>
            <a:r>
              <a:rPr sz="1575" b="0">
                <a:solidFill>
                  <a:srgbClr val="526277"/>
                </a:solidFill>
                <a:latin typeface="Arial"/>
                <a:ea typeface="Arial"/>
                <a:cs typeface="Arial"/>
              </a:rPr>
              <a:t>Chu kỳ: tổng bước / 240 / lượt gắp thành công = 4.44 giây mô phỏng/vật.</a:t>
            </a:r>
          </a:p>
        </p:txBody>
      </p:sp>
    </p:spTree>
    <p:extLst>
      <p:ext uri="{BB962C8B-B14F-4D97-AF65-F5344CB8AC3E}">
        <p14:creationId xmlns:p14="http://schemas.microsoft.com/office/powerpoint/2010/main" val="1039477051"/>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2" name="Ca lỗi: hai khối cùng màu sát nhau">
            <a:extLst xmlns:a="http://schemas.openxmlformats.org/drawingml/2006/main">
              <a:ext uri="{FF2B5EF4-FFF2-40B4-BE49-F238E27FC236}">
                <a16:creationId xmlns:a16="http://schemas.microsoft.com/office/drawing/2014/main" id="{A8ADBB47-E139-4CDA-9AD9-6EB14E26F765}"/>
              </a:ext>
            </a:extLst>
          </p:cNvPr>
          <p:cNvSpPr>
            <a:spLocks xmlns:a="http://schemas.openxmlformats.org/drawingml/2006/main" noGrp="1"/>
          </p:cNvSpPr>
          <p:nvPr/>
        </p:nvSpPr>
        <p:spPr>
          <a:xfrm xmlns:a="http://schemas.openxmlformats.org/drawingml/2006/main">
            <a:off x="533400" y="4286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43A"/>
                </a:solidFill>
                <a:latin typeface="Arial"/>
                <a:ea typeface="Arial"/>
                <a:cs typeface="Arial"/>
              </a:defRPr>
            </a:defPPr>
          </a:lstStyle>
          <a:p xmlns:a="http://schemas.openxmlformats.org/drawingml/2006/main">
            <a:pPr>
              <a:defRPr sz="3225" b="1">
                <a:solidFill>
                  <a:srgbClr val="15243A"/>
                </a:solidFill>
                <a:latin typeface="Arial"/>
                <a:ea typeface="Arial"/>
                <a:cs typeface="Arial"/>
              </a:defRPr>
            </a:pPr>
            <a:r>
              <a:rPr sz="3225" b="1">
                <a:solidFill>
                  <a:srgbClr val="15243A"/>
                </a:solidFill>
                <a:latin typeface="Arial"/>
                <a:ea typeface="Arial"/>
                <a:cs typeface="Arial"/>
              </a:rPr>
              <a:t>Ca lỗi: hai khối cùng màu sát nhau</a:t>
            </a:r>
          </a:p>
        </p:txBody>
      </p:sp>
      <p:sp>
        <p:nvSpPr>
          <p:cNvPr id="2" name="Seed 100 · HSV tạo một vùng, contour gộp làm ">
            <a:extLst xmlns:a="http://schemas.openxmlformats.org/drawingml/2006/main">
              <a:ext uri="{FF2B5EF4-FFF2-40B4-BE49-F238E27FC236}">
                <a16:creationId xmlns:a16="http://schemas.microsoft.com/office/drawing/2014/main" id="{8220634F-81B4-4894-B336-542C70E420AF}"/>
              </a:ext>
            </a:extLst>
          </p:cNvPr>
          <p:cNvSpPr>
            <a:spLocks xmlns:a="http://schemas.openxmlformats.org/drawingml/2006/main" noGrp="1"/>
          </p:cNvSpPr>
          <p:nvPr/>
        </p:nvSpPr>
        <p:spPr>
          <a:xfrm xmlns:a="http://schemas.openxmlformats.org/drawingml/2006/main">
            <a:off x="533400" y="11620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277"/>
                </a:solidFill>
                <a:latin typeface="Arial"/>
                <a:ea typeface="Arial"/>
                <a:cs typeface="Arial"/>
              </a:defRPr>
            </a:defPPr>
          </a:lstStyle>
          <a:p xmlns:a="http://schemas.openxmlformats.org/drawingml/2006/main">
            <a:pPr>
              <a:defRPr sz="1650" b="0">
                <a:solidFill>
                  <a:srgbClr val="526277"/>
                </a:solidFill>
                <a:latin typeface="Arial"/>
                <a:ea typeface="Arial"/>
                <a:cs typeface="Arial"/>
              </a:defRPr>
            </a:pPr>
            <a:r>
              <a:rPr sz="1650" b="0">
                <a:solidFill>
                  <a:srgbClr val="526277"/>
                </a:solidFill>
                <a:latin typeface="Arial"/>
                <a:ea typeface="Arial"/>
                <a:cs typeface="Arial"/>
              </a:rPr>
              <a:t>Seed 100 · HSV tạo một vùng, contour gộp làm tâm phát hiện sai</a:t>
            </a:r>
          </a:p>
        </p:txBody>
      </p:sp>
      <p:sp>
        <p:nvSpPr>
          <p:cNvPr id="3" name="VinSort · Track 4 · 16/10/2026">
            <a:extLst xmlns:a="http://schemas.openxmlformats.org/drawingml/2006/main">
              <a:ext uri="{FF2B5EF4-FFF2-40B4-BE49-F238E27FC236}">
                <a16:creationId xmlns:a16="http://schemas.microsoft.com/office/drawing/2014/main" id="{21D9F1F7-3684-4EF9-8666-CAD4A1A4CDAE}"/>
              </a:ext>
            </a:extLst>
          </p:cNvPr>
          <p:cNvSpPr>
            <a:spLocks xmlns:a="http://schemas.openxmlformats.org/drawingml/2006/main" noGrp="1"/>
          </p:cNvSpPr>
          <p:nvPr/>
        </p:nvSpPr>
        <p:spPr>
          <a:xfrm xmlns:a="http://schemas.openxmlformats.org/drawingml/2006/main">
            <a:off x="533400" y="646747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277"/>
                </a:solidFill>
                <a:latin typeface="Arial"/>
                <a:ea typeface="Arial"/>
                <a:cs typeface="Arial"/>
              </a:defRPr>
            </a:defPPr>
          </a:lstStyle>
          <a:p xmlns:a="http://schemas.openxmlformats.org/drawingml/2006/main">
            <a:pPr>
              <a:defRPr sz="1200" b="0">
                <a:solidFill>
                  <a:srgbClr val="526277"/>
                </a:solidFill>
                <a:latin typeface="Arial"/>
                <a:ea typeface="Arial"/>
                <a:cs typeface="Arial"/>
              </a:defRPr>
            </a:pPr>
            <a:r>
              <a:rPr sz="1200" b="0">
                <a:solidFill>
                  <a:srgbClr val="526277"/>
                </a:solidFill>
                <a:latin typeface="Arial"/>
                <a:ea typeface="Arial"/>
                <a:cs typeface="Arial"/>
              </a:rPr>
              <a:t>VinSort · Track 4 · 16/10/2026</a:t>
            </a:r>
          </a:p>
        </p:txBody>
      </p:sp>
      <p:sp>
        <p:nvSpPr>
          <p:cNvPr id="4" name="4/6">
            <a:extLst xmlns:a="http://schemas.openxmlformats.org/drawingml/2006/main">
              <a:ext uri="{FF2B5EF4-FFF2-40B4-BE49-F238E27FC236}">
                <a16:creationId xmlns:a16="http://schemas.microsoft.com/office/drawing/2014/main" id="{CC929F2B-CB96-4F76-893D-0B895386A0D7}"/>
              </a:ext>
            </a:extLst>
          </p:cNvPr>
          <p:cNvSpPr>
            <a:spLocks xmlns:a="http://schemas.openxmlformats.org/drawingml/2006/main" noGrp="1"/>
          </p:cNvSpPr>
          <p:nvPr/>
        </p:nvSpPr>
        <p:spPr>
          <a:xfrm xmlns:a="http://schemas.openxmlformats.org/drawingml/2006/main">
            <a:off x="11182350" y="64674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277"/>
                </a:solidFill>
                <a:latin typeface="Arial"/>
                <a:ea typeface="Arial"/>
                <a:cs typeface="Arial"/>
              </a:defRPr>
            </a:defPPr>
          </a:lstStyle>
          <a:p xmlns:a="http://schemas.openxmlformats.org/drawingml/2006/main">
            <a:pPr>
              <a:defRPr sz="1200" b="0">
                <a:solidFill>
                  <a:srgbClr val="526277"/>
                </a:solidFill>
                <a:latin typeface="Arial"/>
                <a:ea typeface="Arial"/>
                <a:cs typeface="Arial"/>
              </a:defRPr>
            </a:pPr>
            <a:r>
              <a:rPr sz="1200" b="0">
                <a:solidFill>
                  <a:srgbClr val="526277"/>
                </a:solidFill>
                <a:latin typeface="Arial"/>
                <a:ea typeface="Arial"/>
                <a:cs typeface="Arial"/>
              </a:rPr>
              <a:t>4/6</a:t>
            </a:r>
          </a:p>
        </p:txBody>
      </p:sp>
      <p:pic>
        <p:nvPicPr>
          <p:cNvPr id="5" name="">
            <a:extLst xmlns:a="http://schemas.openxmlformats.org/drawingml/2006/main">
              <a:ext uri="{FF2B5EF4-FFF2-40B4-BE49-F238E27FC236}">
                <a16:creationId xmlns:a16="http://schemas.microsoft.com/office/drawing/2014/main" id="{3FDAAE71-54EA-4F68-B02C-B8C1DA55EE10}"/>
              </a:ext>
            </a:extLst>
          </p:cNvPr>
          <p:cNvPicPr>
            <a:picLocks xmlns:a="http://schemas.openxmlformats.org/drawingml/2006/main" noChangeAspect="1"/>
          </p:cNvPicPr>
          <p:nvPr/>
        </p:nvPicPr>
        <p:blipFill>
          <a:blip xmlns:r="http://schemas.openxmlformats.org/officeDocument/2006/relationships" xmlns:a="http://schemas.openxmlformats.org/drawingml/2006/main" r:embed="Rfcc1330eedbb4d0d"/>
          <a:stretch xmlns:a="http://schemas.openxmlformats.org/drawingml/2006/main"/>
        </p:blipFill>
        <p:spPr>
          <a:xfrm xmlns:a="http://schemas.openxmlformats.org/drawingml/2006/main">
            <a:off x="533400" y="1887141"/>
            <a:ext cx="3552825" cy="2664619"/>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0726696-5932-4F63-A0DD-A530F9766F68}"/>
              </a:ext>
            </a:extLst>
          </p:cNvPr>
          <p:cNvPicPr>
            <a:picLocks xmlns:a="http://schemas.openxmlformats.org/drawingml/2006/main" noChangeAspect="1"/>
          </p:cNvPicPr>
          <p:nvPr/>
        </p:nvPicPr>
        <p:blipFill>
          <a:blip xmlns:r="http://schemas.openxmlformats.org/officeDocument/2006/relationships" xmlns:a="http://schemas.openxmlformats.org/drawingml/2006/main" r:embed="Rce11efa3207843c1"/>
          <a:stretch xmlns:a="http://schemas.openxmlformats.org/drawingml/2006/main"/>
        </p:blipFill>
        <p:spPr>
          <a:xfrm xmlns:a="http://schemas.openxmlformats.org/drawingml/2006/main">
            <a:off x="4314825" y="1887141"/>
            <a:ext cx="3552825" cy="2664619"/>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6246B723-9D18-4203-89A3-D5CBCB7709DD}"/>
              </a:ext>
            </a:extLst>
          </p:cNvPr>
          <p:cNvPicPr>
            <a:picLocks xmlns:a="http://schemas.openxmlformats.org/drawingml/2006/main" noChangeAspect="1"/>
          </p:cNvPicPr>
          <p:nvPr/>
        </p:nvPicPr>
        <p:blipFill>
          <a:blip xmlns:r="http://schemas.openxmlformats.org/officeDocument/2006/relationships" xmlns:a="http://schemas.openxmlformats.org/drawingml/2006/main" r:embed="R2c17efa259e44f69"/>
          <a:stretch xmlns:a="http://schemas.openxmlformats.org/drawingml/2006/main"/>
        </p:blipFill>
        <p:spPr>
          <a:xfrm xmlns:a="http://schemas.openxmlformats.org/drawingml/2006/main">
            <a:off x="8096250" y="1887141"/>
            <a:ext cx="3552825" cy="2664619"/>
          </a:xfrm>
          <a:prstGeom xmlns:a="http://schemas.openxmlformats.org/drawingml/2006/main" prst="rect">
            <a:avLst/>
          </a:prstGeom>
        </p:spPr>
      </p:pic>
      <p:sp>
        <p:nvSpPr>
          <p:cNvPr id="8" name="RGB">
            <a:extLst xmlns:a="http://schemas.openxmlformats.org/drawingml/2006/main">
              <a:ext uri="{FF2B5EF4-FFF2-40B4-BE49-F238E27FC236}">
                <a16:creationId xmlns:a16="http://schemas.microsoft.com/office/drawing/2014/main" id="{2F755743-69BD-4171-9CB6-37220527FB2B}"/>
              </a:ext>
            </a:extLst>
          </p:cNvPr>
          <p:cNvSpPr>
            <a:spLocks xmlns:a="http://schemas.openxmlformats.org/drawingml/2006/main" noGrp="1"/>
          </p:cNvSpPr>
          <p:nvPr/>
        </p:nvSpPr>
        <p:spPr>
          <a:xfrm xmlns:a="http://schemas.openxmlformats.org/drawingml/2006/main">
            <a:off x="533400" y="4600575"/>
            <a:ext cx="35528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07D75"/>
                </a:solidFill>
                <a:latin typeface="Arial"/>
                <a:ea typeface="Arial"/>
                <a:cs typeface="Arial"/>
              </a:defRPr>
            </a:defPPr>
          </a:lstStyle>
          <a:p xmlns:a="http://schemas.openxmlformats.org/drawingml/2006/main">
            <a:pPr>
              <a:defRPr sz="1800" b="1">
                <a:solidFill>
                  <a:srgbClr val="007D75"/>
                </a:solidFill>
                <a:latin typeface="Arial"/>
                <a:ea typeface="Arial"/>
                <a:cs typeface="Arial"/>
              </a:defRPr>
            </a:pPr>
            <a:r>
              <a:rPr sz="1800" b="1">
                <a:solidFill>
                  <a:srgbClr val="007D75"/>
                </a:solidFill>
                <a:latin typeface="Arial"/>
                <a:ea typeface="Arial"/>
                <a:cs typeface="Arial"/>
              </a:rPr>
              <a:t>RGB</a:t>
            </a:r>
          </a:p>
        </p:txBody>
      </p:sp>
      <p:sp>
        <p:nvSpPr>
          <p:cNvPr id="9" name="Mask cùng màu">
            <a:extLst xmlns:a="http://schemas.openxmlformats.org/drawingml/2006/main">
              <a:ext uri="{FF2B5EF4-FFF2-40B4-BE49-F238E27FC236}">
                <a16:creationId xmlns:a16="http://schemas.microsoft.com/office/drawing/2014/main" id="{DEEDD7AE-56A9-4235-AB52-469A83584B32}"/>
              </a:ext>
            </a:extLst>
          </p:cNvPr>
          <p:cNvSpPr>
            <a:spLocks xmlns:a="http://schemas.openxmlformats.org/drawingml/2006/main" noGrp="1"/>
          </p:cNvSpPr>
          <p:nvPr/>
        </p:nvSpPr>
        <p:spPr>
          <a:xfrm xmlns:a="http://schemas.openxmlformats.org/drawingml/2006/main">
            <a:off x="4314825" y="4600575"/>
            <a:ext cx="35528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07D75"/>
                </a:solidFill>
                <a:latin typeface="Arial"/>
                <a:ea typeface="Arial"/>
                <a:cs typeface="Arial"/>
              </a:defRPr>
            </a:defPPr>
          </a:lstStyle>
          <a:p xmlns:a="http://schemas.openxmlformats.org/drawingml/2006/main">
            <a:pPr>
              <a:defRPr sz="1800" b="1">
                <a:solidFill>
                  <a:srgbClr val="007D75"/>
                </a:solidFill>
                <a:latin typeface="Arial"/>
                <a:ea typeface="Arial"/>
                <a:cs typeface="Arial"/>
              </a:defRPr>
            </a:pPr>
            <a:r>
              <a:rPr sz="1800" b="1">
                <a:solidFill>
                  <a:srgbClr val="007D75"/>
                </a:solidFill>
                <a:latin typeface="Arial"/>
                <a:ea typeface="Arial"/>
                <a:cs typeface="Arial"/>
              </a:rPr>
              <a:t>Mask cùng màu</a:t>
            </a:r>
          </a:p>
        </p:txBody>
      </p:sp>
      <p:sp>
        <p:nvSpPr>
          <p:cNvPr id="10" name="Contour gộp, cờ area">
            <a:extLst xmlns:a="http://schemas.openxmlformats.org/drawingml/2006/main">
              <a:ext uri="{FF2B5EF4-FFF2-40B4-BE49-F238E27FC236}">
                <a16:creationId xmlns:a16="http://schemas.microsoft.com/office/drawing/2014/main" id="{7DAA8474-C239-4C9A-8E31-6DFC939737FD}"/>
              </a:ext>
            </a:extLst>
          </p:cNvPr>
          <p:cNvSpPr>
            <a:spLocks xmlns:a="http://schemas.openxmlformats.org/drawingml/2006/main" noGrp="1"/>
          </p:cNvSpPr>
          <p:nvPr/>
        </p:nvSpPr>
        <p:spPr>
          <a:xfrm xmlns:a="http://schemas.openxmlformats.org/drawingml/2006/main">
            <a:off x="8096250" y="4600575"/>
            <a:ext cx="35528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07D75"/>
                </a:solidFill>
                <a:latin typeface="Arial"/>
                <a:ea typeface="Arial"/>
                <a:cs typeface="Arial"/>
              </a:defRPr>
            </a:defPPr>
          </a:lstStyle>
          <a:p xmlns:a="http://schemas.openxmlformats.org/drawingml/2006/main">
            <a:pPr>
              <a:defRPr sz="1800" b="1">
                <a:solidFill>
                  <a:srgbClr val="007D75"/>
                </a:solidFill>
                <a:latin typeface="Arial"/>
                <a:ea typeface="Arial"/>
                <a:cs typeface="Arial"/>
              </a:defRPr>
            </a:pPr>
            <a:r>
              <a:rPr sz="1800" b="1">
                <a:solidFill>
                  <a:srgbClr val="007D75"/>
                </a:solidFill>
                <a:latin typeface="Arial"/>
                <a:ea typeface="Arial"/>
                <a:cs typeface="Arial"/>
              </a:rPr>
              <a:t>Contour gộp, cờ area</a:t>
            </a:r>
          </a:p>
        </p:txBody>
      </p:sp>
      <p:sp>
        <p:nvSpPr>
          <p:cNvPr id="11" name="Phản ứng: diện tích &gt; 1,6 × 1510 px, gắn susp">
            <a:extLst xmlns:a="http://schemas.openxmlformats.org/drawingml/2006/main">
              <a:ext uri="{FF2B5EF4-FFF2-40B4-BE49-F238E27FC236}">
                <a16:creationId xmlns:a16="http://schemas.microsoft.com/office/drawing/2014/main" id="{3A529704-5D5B-444B-9A0B-90BE860A82B5}"/>
              </a:ext>
            </a:extLst>
          </p:cNvPr>
          <p:cNvSpPr>
            <a:spLocks xmlns:a="http://schemas.openxmlformats.org/drawingml/2006/main" noGrp="1"/>
          </p:cNvSpPr>
          <p:nvPr/>
        </p:nvSpPr>
        <p:spPr>
          <a:xfrm xmlns:a="http://schemas.openxmlformats.org/drawingml/2006/main">
            <a:off x="533400" y="5124450"/>
            <a:ext cx="11125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26277"/>
                </a:solidFill>
                <a:latin typeface="Arial"/>
                <a:ea typeface="Arial"/>
                <a:cs typeface="Arial"/>
              </a:defRPr>
            </a:defPPr>
          </a:lstStyle>
          <a:p xmlns:a="http://schemas.openxmlformats.org/drawingml/2006/main">
            <a:pPr>
              <a:defRPr sz="1800" b="0">
                <a:solidFill>
                  <a:srgbClr val="526277"/>
                </a:solidFill>
                <a:latin typeface="Arial"/>
                <a:ea typeface="Arial"/>
                <a:cs typeface="Arial"/>
              </a:defRPr>
            </a:pPr>
            <a:r>
              <a:rPr sz="1800" b="0">
                <a:solidFill>
                  <a:srgbClr val="526277"/>
                </a:solidFill>
                <a:latin typeface="Arial"/>
                <a:ea typeface="Arial"/>
                <a:cs typeface="Arial"/>
              </a:rPr>
              <a:t>Phản ứng: diện tích &gt; 1,6 × 1510 px, gắn suspicious rồi chuyển TELEOP.</a:t>
            </a:r>
          </a:p>
          <a:p xmlns:a="http://schemas.openxmlformats.org/drawingml/2006/main">
            <a:pPr>
              <a:defRPr sz="1800" b="0">
                <a:solidFill>
                  <a:srgbClr val="526277"/>
                </a:solidFill>
                <a:latin typeface="Arial"/>
                <a:ea typeface="Arial"/>
                <a:cs typeface="Arial"/>
              </a:defRPr>
            </a:pPr>
            <a:r>
              <a:rPr sz="1800" b="0">
                <a:solidFill>
                  <a:srgbClr val="526277"/>
                </a:solidFill>
                <a:latin typeface="Arial"/>
                <a:ea typeface="Arial"/>
                <a:cs typeface="Arial"/>
              </a:rPr>
              <a:t>Pick sạch 5 seed lỗi: 20/30 vật tự xếp, 10 vật cần can thiệp.</a:t>
            </a:r>
          </a:p>
          <a:p xmlns:a="http://schemas.openxmlformats.org/drawingml/2006/main">
            <a:pPr>
              <a:defRPr sz="1800" b="0">
                <a:solidFill>
                  <a:srgbClr val="526277"/>
                </a:solidFill>
                <a:latin typeface="Arial"/>
                <a:ea typeface="Arial"/>
                <a:cs typeface="Arial"/>
              </a:defRPr>
            </a:pPr>
            <a:r>
              <a:rPr sz="1800" b="0">
                <a:solidFill>
                  <a:srgbClr val="526277"/>
                </a:solidFill>
                <a:latin typeface="Arial"/>
                <a:ea typeface="Arial"/>
                <a:cs typeface="Arial"/>
              </a:rPr>
              <a:t>Khắc phục: watershed hoặc cạnh depth. Kiểm thử có kịch bản phục hồi 6/6.</a:t>
            </a:r>
          </a:p>
        </p:txBody>
      </p:sp>
    </p:spTree>
    <p:extLst>
      <p:ext uri="{BB962C8B-B14F-4D97-AF65-F5344CB8AC3E}">
        <p14:creationId xmlns:p14="http://schemas.microsoft.com/office/powerpoint/2010/main" val="2048237572"/>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8" name="Impact: kịch bản ước lượng">
            <a:extLst xmlns:a="http://schemas.openxmlformats.org/drawingml/2006/main">
              <a:ext uri="{FF2B5EF4-FFF2-40B4-BE49-F238E27FC236}">
                <a16:creationId xmlns:a16="http://schemas.microsoft.com/office/drawing/2014/main" id="{2CF9D871-C3CD-4B09-98E2-7B4C1C05F0E0}"/>
              </a:ext>
            </a:extLst>
          </p:cNvPr>
          <p:cNvSpPr>
            <a:spLocks xmlns:a="http://schemas.openxmlformats.org/drawingml/2006/main" noGrp="1"/>
          </p:cNvSpPr>
          <p:nvPr/>
        </p:nvSpPr>
        <p:spPr>
          <a:xfrm xmlns:a="http://schemas.openxmlformats.org/drawingml/2006/main">
            <a:off x="533400" y="4286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43A"/>
                </a:solidFill>
                <a:latin typeface="Arial"/>
                <a:ea typeface="Arial"/>
                <a:cs typeface="Arial"/>
              </a:defRPr>
            </a:defPPr>
          </a:lstStyle>
          <a:p xmlns:a="http://schemas.openxmlformats.org/drawingml/2006/main">
            <a:pPr>
              <a:defRPr sz="3225" b="1">
                <a:solidFill>
                  <a:srgbClr val="15243A"/>
                </a:solidFill>
                <a:latin typeface="Arial"/>
                <a:ea typeface="Arial"/>
                <a:cs typeface="Arial"/>
              </a:defRPr>
            </a:pPr>
            <a:r>
              <a:rPr sz="3225" b="1">
                <a:solidFill>
                  <a:srgbClr val="15243A"/>
                </a:solidFill>
                <a:latin typeface="Arial"/>
                <a:ea typeface="Arial"/>
                <a:cs typeface="Arial"/>
              </a:rPr>
              <a:t>Impact: kịch bản ước lượng</a:t>
            </a:r>
          </a:p>
        </p:txBody>
      </p:sp>
      <p:sp>
        <p:nvSpPr>
          <p:cNvPr id="2" name="Các giả định dưới đây do nhóm đặt, chưa có ng">
            <a:extLst xmlns:a="http://schemas.openxmlformats.org/drawingml/2006/main">
              <a:ext uri="{FF2B5EF4-FFF2-40B4-BE49-F238E27FC236}">
                <a16:creationId xmlns:a16="http://schemas.microsoft.com/office/drawing/2014/main" id="{C8DFACE4-9385-47A5-AA71-959DC590B1B6}"/>
              </a:ext>
            </a:extLst>
          </p:cNvPr>
          <p:cNvSpPr>
            <a:spLocks xmlns:a="http://schemas.openxmlformats.org/drawingml/2006/main" noGrp="1"/>
          </p:cNvSpPr>
          <p:nvPr/>
        </p:nvSpPr>
        <p:spPr>
          <a:xfrm xmlns:a="http://schemas.openxmlformats.org/drawingml/2006/main">
            <a:off x="533400" y="11620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277"/>
                </a:solidFill>
                <a:latin typeface="Arial"/>
                <a:ea typeface="Arial"/>
                <a:cs typeface="Arial"/>
              </a:defRPr>
            </a:defPPr>
          </a:lstStyle>
          <a:p xmlns:a="http://schemas.openxmlformats.org/drawingml/2006/main">
            <a:pPr>
              <a:defRPr sz="1650" b="0">
                <a:solidFill>
                  <a:srgbClr val="526277"/>
                </a:solidFill>
                <a:latin typeface="Arial"/>
                <a:ea typeface="Arial"/>
                <a:cs typeface="Arial"/>
              </a:defRPr>
            </a:pPr>
            <a:r>
              <a:rPr sz="1650" b="0">
                <a:solidFill>
                  <a:srgbClr val="526277"/>
                </a:solidFill>
                <a:latin typeface="Arial"/>
                <a:ea typeface="Arial"/>
                <a:cs typeface="Arial"/>
              </a:rPr>
              <a:t>Các giả định dưới đây do nhóm đặt, chưa có nguồn đo tại VinFast</a:t>
            </a:r>
          </a:p>
        </p:txBody>
      </p:sp>
      <p:sp>
        <p:nvSpPr>
          <p:cNvPr id="3" name="VinSort · Track 4 · 16/10/2026">
            <a:extLst xmlns:a="http://schemas.openxmlformats.org/drawingml/2006/main">
              <a:ext uri="{FF2B5EF4-FFF2-40B4-BE49-F238E27FC236}">
                <a16:creationId xmlns:a16="http://schemas.microsoft.com/office/drawing/2014/main" id="{B64FB846-BA29-4EFD-8F42-A38DD70D4BA9}"/>
              </a:ext>
            </a:extLst>
          </p:cNvPr>
          <p:cNvSpPr>
            <a:spLocks xmlns:a="http://schemas.openxmlformats.org/drawingml/2006/main" noGrp="1"/>
          </p:cNvSpPr>
          <p:nvPr/>
        </p:nvSpPr>
        <p:spPr>
          <a:xfrm xmlns:a="http://schemas.openxmlformats.org/drawingml/2006/main">
            <a:off x="533400" y="646747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277"/>
                </a:solidFill>
                <a:latin typeface="Arial"/>
                <a:ea typeface="Arial"/>
                <a:cs typeface="Arial"/>
              </a:defRPr>
            </a:defPPr>
          </a:lstStyle>
          <a:p xmlns:a="http://schemas.openxmlformats.org/drawingml/2006/main">
            <a:pPr>
              <a:defRPr sz="1200" b="0">
                <a:solidFill>
                  <a:srgbClr val="526277"/>
                </a:solidFill>
                <a:latin typeface="Arial"/>
                <a:ea typeface="Arial"/>
                <a:cs typeface="Arial"/>
              </a:defRPr>
            </a:pPr>
            <a:r>
              <a:rPr sz="1200" b="0">
                <a:solidFill>
                  <a:srgbClr val="526277"/>
                </a:solidFill>
                <a:latin typeface="Arial"/>
                <a:ea typeface="Arial"/>
                <a:cs typeface="Arial"/>
              </a:rPr>
              <a:t>VinSort · Track 4 · 16/10/2026</a:t>
            </a:r>
          </a:p>
        </p:txBody>
      </p:sp>
      <p:sp>
        <p:nvSpPr>
          <p:cNvPr id="4" name="5/6">
            <a:extLst xmlns:a="http://schemas.openxmlformats.org/drawingml/2006/main">
              <a:ext uri="{FF2B5EF4-FFF2-40B4-BE49-F238E27FC236}">
                <a16:creationId xmlns:a16="http://schemas.microsoft.com/office/drawing/2014/main" id="{3D5633C4-C085-43B6-B553-06E1E2AB6C13}"/>
              </a:ext>
            </a:extLst>
          </p:cNvPr>
          <p:cNvSpPr>
            <a:spLocks xmlns:a="http://schemas.openxmlformats.org/drawingml/2006/main" noGrp="1"/>
          </p:cNvSpPr>
          <p:nvPr/>
        </p:nvSpPr>
        <p:spPr>
          <a:xfrm xmlns:a="http://schemas.openxmlformats.org/drawingml/2006/main">
            <a:off x="11182350" y="64674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277"/>
                </a:solidFill>
                <a:latin typeface="Arial"/>
                <a:ea typeface="Arial"/>
                <a:cs typeface="Arial"/>
              </a:defRPr>
            </a:defPPr>
          </a:lstStyle>
          <a:p xmlns:a="http://schemas.openxmlformats.org/drawingml/2006/main">
            <a:pPr>
              <a:defRPr sz="1200" b="0">
                <a:solidFill>
                  <a:srgbClr val="526277"/>
                </a:solidFill>
                <a:latin typeface="Arial"/>
                <a:ea typeface="Arial"/>
                <a:cs typeface="Arial"/>
              </a:defRPr>
            </a:pPr>
            <a:r>
              <a:rPr sz="1200" b="0">
                <a:solidFill>
                  <a:srgbClr val="526277"/>
                </a:solidFill>
                <a:latin typeface="Arial"/>
                <a:ea typeface="Arial"/>
                <a:cs typeface="Arial"/>
              </a:rPr>
              <a:t>5/6</a:t>
            </a:r>
          </a:p>
        </p:txBody>
      </p:sp>
      <p:graphicFrame>
        <p:nvGraphicFramePr>
          <p:cNvPr id="5" name="">
            <a:extLst xmlns:a="http://schemas.openxmlformats.org/drawingml/2006/main">
              <a:ext uri="{FF2B5EF4-FFF2-40B4-BE49-F238E27FC236}">
                <a16:creationId xmlns:a16="http://schemas.microsoft.com/office/drawing/2014/main" id="{82E44F72-0575-422E-873D-BDD00B348AEA}"/>
              </a:ext>
            </a:extLst>
          </p:cNvPr>
          <p:cNvGraphicFramePr/>
          <p:nvPr/>
        </p:nvGraphicFramePr>
        <p:xfrm>
          <a:off xmlns:a="http://schemas.openxmlformats.org/drawingml/2006/main" x="533400" y="1857375"/>
          <a:ext xmlns:a="http://schemas.openxmlformats.org/drawingml/2006/main" cx="11125200" cy="2857500"/>
        </p:xfrm>
        <a:graphic xmlns:a="http://schemas.openxmlformats.org/drawingml/2006/main">
          <a:graphicData uri="http://schemas.openxmlformats.org/drawingml/2006/table">
            <a:tbl>
              <a:tblPr/>
              <a:tblGrid>
                <a:gridCol w="3714750"/>
                <a:gridCol w="3714750"/>
                <a:gridCol w="3695700"/>
              </a:tblGrid>
              <a:tr h="571500">
                <a:tc>
                  <a:txBody>
                    <a:bodyPr/>
                    <a:lstStyle/>
                    <a:p>
                      <a:r>
                        <a:rPr sz="1875" b="1">
                          <a:solidFill>
                            <a:srgbClr val="FFFFFF"/>
                          </a:solidFill>
                          <a:latin typeface="Arial"/>
                          <a:ea typeface="Arial"/>
                          <a:cs typeface="Arial"/>
                        </a:rPr>
                        <a:t>Đại lượng</a:t>
                      </a:r>
                    </a:p>
                  </a:txBody>
                  <a:tcPr marL="91440" marR="91440" marT="45720" marB="45720">
                    <a:solidFill>
                      <a:srgbClr val="15243A"/>
                    </a:solidFill>
                  </a:tcPr>
                </a:tc>
                <a:tc>
                  <a:txBody>
                    <a:bodyPr/>
                    <a:lstStyle/>
                    <a:p>
                      <a:r>
                        <a:rPr sz="1875" b="1">
                          <a:solidFill>
                            <a:srgbClr val="FFFFFF"/>
                          </a:solidFill>
                          <a:latin typeface="Arial"/>
                          <a:ea typeface="Arial"/>
                          <a:cs typeface="Arial"/>
                        </a:rPr>
                        <a:t>Giá trị</a:t>
                      </a:r>
                    </a:p>
                  </a:txBody>
                  <a:tcPr marL="91440" marR="91440" marT="45720" marB="45720">
                    <a:solidFill>
                      <a:srgbClr val="15243A"/>
                    </a:solidFill>
                  </a:tcPr>
                </a:tc>
                <a:tc>
                  <a:txBody>
                    <a:bodyPr/>
                    <a:lstStyle/>
                    <a:p>
                      <a:r>
                        <a:rPr sz="1875" b="1">
                          <a:solidFill>
                            <a:srgbClr val="FFFFFF"/>
                          </a:solidFill>
                          <a:latin typeface="Arial"/>
                          <a:ea typeface="Arial"/>
                          <a:cs typeface="Arial"/>
                        </a:rPr>
                        <a:t>Căn cứ</a:t>
                      </a:r>
                    </a:p>
                  </a:txBody>
                  <a:tcPr marL="91440" marR="91440" marT="45720" marB="45720">
                    <a:solidFill>
                      <a:srgbClr val="15243A"/>
                    </a:solidFill>
                  </a:tcPr>
                </a:tc>
              </a:tr>
              <a:tr h="571500">
                <a:tc>
                  <a:txBody>
                    <a:bodyPr/>
                    <a:lstStyle/>
                    <a:p>
                      <a:r>
                        <a:rPr sz="1875" b="0">
                          <a:solidFill>
                            <a:srgbClr val="15243A"/>
                          </a:solidFill>
                          <a:latin typeface="Arial"/>
                          <a:ea typeface="Arial"/>
                          <a:cs typeface="Arial"/>
                        </a:rPr>
                        <a:t>Tỉ lệ đúng</a:t>
                      </a:r>
                    </a:p>
                  </a:txBody>
                  <a:tcPr marL="91440" marR="91440" marT="45720" marB="45720">
                    <a:solidFill>
                      <a:srgbClr val="FFFFFF"/>
                    </a:solidFill>
                  </a:tcPr>
                </a:tc>
                <a:tc>
                  <a:txBody>
                    <a:bodyPr/>
                    <a:lstStyle/>
                    <a:p>
                      <a:r>
                        <a:rPr sz="1875" b="0">
                          <a:solidFill>
                            <a:srgbClr val="15243A"/>
                          </a:solidFill>
                          <a:latin typeface="Arial"/>
                          <a:ea typeface="Arial"/>
                          <a:cs typeface="Arial"/>
                        </a:rPr>
                        <a:t>120/120</a:t>
                      </a:r>
                    </a:p>
                  </a:txBody>
                  <a:tcPr marL="91440" marR="91440" marT="45720" marB="45720">
                    <a:solidFill>
                      <a:srgbClr val="FFFFFF"/>
                    </a:solidFill>
                  </a:tcPr>
                </a:tc>
                <a:tc>
                  <a:txBody>
                    <a:bodyPr/>
                    <a:lstStyle/>
                    <a:p>
                      <a:r>
                        <a:rPr sz="1875" b="0">
                          <a:solidFill>
                            <a:srgbClr val="15243A"/>
                          </a:solidFill>
                          <a:latin typeface="Arial"/>
                          <a:ea typeface="Arial"/>
                          <a:cs typeface="Arial"/>
                        </a:rPr>
                        <a:t>ĐO trong sim</a:t>
                      </a:r>
                    </a:p>
                  </a:txBody>
                  <a:tcPr marL="91440" marR="91440" marT="45720" marB="45720">
                    <a:solidFill>
                      <a:srgbClr val="FFFFFF"/>
                    </a:solidFill>
                  </a:tcPr>
                </a:tc>
              </a:tr>
              <a:tr h="571500">
                <a:tc>
                  <a:txBody>
                    <a:bodyPr/>
                    <a:lstStyle/>
                    <a:p>
                      <a:r>
                        <a:rPr sz="1875" b="0">
                          <a:solidFill>
                            <a:srgbClr val="15243A"/>
                          </a:solidFill>
                          <a:latin typeface="Arial"/>
                          <a:ea typeface="Arial"/>
                          <a:cs typeface="Arial"/>
                        </a:rPr>
                        <a:t>Chu kỳ robot dự kiến</a:t>
                      </a:r>
                    </a:p>
                  </a:txBody>
                  <a:tcPr marL="91440" marR="91440" marT="45720" marB="45720">
                    <a:solidFill>
                      <a:srgbClr val="EAF0F3"/>
                    </a:solidFill>
                  </a:tcPr>
                </a:tc>
                <a:tc>
                  <a:txBody>
                    <a:bodyPr/>
                    <a:lstStyle/>
                    <a:p>
                      <a:r>
                        <a:rPr sz="1875" b="0">
                          <a:solidFill>
                            <a:srgbClr val="15243A"/>
                          </a:solidFill>
                          <a:latin typeface="Arial"/>
                          <a:ea typeface="Arial"/>
                          <a:cs typeface="Arial"/>
                        </a:rPr>
                        <a:t>6 giây/vật</a:t>
                      </a:r>
                    </a:p>
                  </a:txBody>
                  <a:tcPr marL="91440" marR="91440" marT="45720" marB="45720">
                    <a:solidFill>
                      <a:srgbClr val="EAF0F3"/>
                    </a:solidFill>
                  </a:tcPr>
                </a:tc>
                <a:tc>
                  <a:txBody>
                    <a:bodyPr/>
                    <a:lstStyle/>
                    <a:p>
                      <a:r>
                        <a:rPr sz="1875" b="0">
                          <a:solidFill>
                            <a:srgbClr val="15243A"/>
                          </a:solidFill>
                          <a:latin typeface="Arial"/>
                          <a:ea typeface="Arial"/>
                          <a:cs typeface="Arial"/>
                        </a:rPr>
                        <a:t>GIẢ ĐỊNH</a:t>
                      </a:r>
                    </a:p>
                  </a:txBody>
                  <a:tcPr marL="91440" marR="91440" marT="45720" marB="45720">
                    <a:solidFill>
                      <a:srgbClr val="EAF0F3"/>
                    </a:solidFill>
                  </a:tcPr>
                </a:tc>
              </a:tr>
              <a:tr h="571500">
                <a:tc>
                  <a:txBody>
                    <a:bodyPr/>
                    <a:lstStyle/>
                    <a:p>
                      <a:r>
                        <a:rPr sz="1875" b="0">
                          <a:solidFill>
                            <a:srgbClr val="15243A"/>
                          </a:solidFill>
                          <a:latin typeface="Arial"/>
                          <a:ea typeface="Arial"/>
                          <a:cs typeface="Arial"/>
                        </a:rPr>
                        <a:t>Năng suất lý thuyết</a:t>
                      </a:r>
                    </a:p>
                  </a:txBody>
                  <a:tcPr marL="91440" marR="91440" marT="45720" marB="45720">
                    <a:solidFill>
                      <a:srgbClr val="FFFFFF"/>
                    </a:solidFill>
                  </a:tcPr>
                </a:tc>
                <a:tc>
                  <a:txBody>
                    <a:bodyPr/>
                    <a:lstStyle/>
                    <a:p>
                      <a:r>
                        <a:rPr sz="1875" b="0">
                          <a:solidFill>
                            <a:srgbClr val="15243A"/>
                          </a:solidFill>
                          <a:latin typeface="Arial"/>
                          <a:ea typeface="Arial"/>
                          <a:cs typeface="Arial"/>
                        </a:rPr>
                        <a:t>3600 / 6 = 600 vật/giờ</a:t>
                      </a:r>
                    </a:p>
                  </a:txBody>
                  <a:tcPr marL="91440" marR="91440" marT="45720" marB="45720">
                    <a:solidFill>
                      <a:srgbClr val="FFFFFF"/>
                    </a:solidFill>
                  </a:tcPr>
                </a:tc>
                <a:tc>
                  <a:txBody>
                    <a:bodyPr/>
                    <a:lstStyle/>
                    <a:p>
                      <a:r>
                        <a:rPr sz="1875" b="0">
                          <a:solidFill>
                            <a:srgbClr val="15243A"/>
                          </a:solidFill>
                          <a:latin typeface="Arial"/>
                          <a:ea typeface="Arial"/>
                          <a:cs typeface="Arial"/>
                        </a:rPr>
                        <a:t>ƯỚC LƯỢNG</a:t>
                      </a:r>
                    </a:p>
                  </a:txBody>
                  <a:tcPr marL="91440" marR="91440" marT="45720" marB="45720">
                    <a:solidFill>
                      <a:srgbClr val="FFFFFF"/>
                    </a:solidFill>
                  </a:tcPr>
                </a:tc>
              </a:tr>
              <a:tr h="571500">
                <a:tc>
                  <a:txBody>
                    <a:bodyPr/>
                    <a:lstStyle/>
                    <a:p>
                      <a:r>
                        <a:rPr sz="1875" b="0">
                          <a:solidFill>
                            <a:srgbClr val="15243A"/>
                          </a:solidFill>
                          <a:latin typeface="Arial"/>
                          <a:ea typeface="Arial"/>
                          <a:cs typeface="Arial"/>
                        </a:rPr>
                        <a:t>Giờ vận hành trong phạm vi</a:t>
                      </a:r>
                    </a:p>
                  </a:txBody>
                  <a:tcPr marL="91440" marR="91440" marT="45720" marB="45720">
                    <a:solidFill>
                      <a:srgbClr val="EAF0F3"/>
                    </a:solidFill>
                  </a:tcPr>
                </a:tc>
                <a:tc>
                  <a:txBody>
                    <a:bodyPr/>
                    <a:lstStyle/>
                    <a:p>
                      <a:r>
                        <a:rPr sz="1875" b="0">
                          <a:solidFill>
                            <a:srgbClr val="15243A"/>
                          </a:solidFill>
                          <a:latin typeface="Arial"/>
                          <a:ea typeface="Arial"/>
                          <a:cs typeface="Arial"/>
                        </a:rPr>
                        <a:t>1 ca × 8 giờ × 1 trạm</a:t>
                      </a:r>
                    </a:p>
                  </a:txBody>
                  <a:tcPr marL="91440" marR="91440" marT="45720" marB="45720">
                    <a:solidFill>
                      <a:srgbClr val="EAF0F3"/>
                    </a:solidFill>
                  </a:tcPr>
                </a:tc>
                <a:tc>
                  <a:txBody>
                    <a:bodyPr/>
                    <a:lstStyle/>
                    <a:p>
                      <a:r>
                        <a:rPr sz="1875" b="0">
                          <a:solidFill>
                            <a:srgbClr val="15243A"/>
                          </a:solidFill>
                          <a:latin typeface="Arial"/>
                          <a:ea typeface="Arial"/>
                          <a:cs typeface="Arial"/>
                        </a:rPr>
                        <a:t>GIẢ ĐỊNH</a:t>
                      </a:r>
                    </a:p>
                  </a:txBody>
                  <a:tcPr marL="91440" marR="91440" marT="45720" marB="45720">
                    <a:solidFill>
                      <a:srgbClr val="EAF0F3"/>
                    </a:solidFill>
                  </a:tcPr>
                </a:tc>
              </a:tr>
            </a:tbl>
          </a:graphicData>
        </a:graphic>
      </p:graphicFrame>
      <p:sp>
        <p:nvSpPr>
          <p:cNvPr id="6" name="Đúng/giờ nếu đạt cùng tỉ lệ sim = 600 × 1.00 ">
            <a:extLst xmlns:a="http://schemas.openxmlformats.org/drawingml/2006/main">
              <a:ext uri="{FF2B5EF4-FFF2-40B4-BE49-F238E27FC236}">
                <a16:creationId xmlns:a16="http://schemas.microsoft.com/office/drawing/2014/main" id="{95CF2D86-6F9C-41FC-990D-605E335C8095}"/>
              </a:ext>
            </a:extLst>
          </p:cNvPr>
          <p:cNvSpPr>
            <a:spLocks xmlns:a="http://schemas.openxmlformats.org/drawingml/2006/main" noGrp="1"/>
          </p:cNvSpPr>
          <p:nvPr/>
        </p:nvSpPr>
        <p:spPr>
          <a:xfrm xmlns:a="http://schemas.openxmlformats.org/drawingml/2006/main">
            <a:off x="533400" y="4981575"/>
            <a:ext cx="11125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D75"/>
                </a:solidFill>
                <a:latin typeface="Arial"/>
                <a:ea typeface="Arial"/>
                <a:cs typeface="Arial"/>
              </a:defRPr>
            </a:defPPr>
          </a:lstStyle>
          <a:p xmlns:a="http://schemas.openxmlformats.org/drawingml/2006/main">
            <a:pPr>
              <a:defRPr sz="2025" b="1">
                <a:solidFill>
                  <a:srgbClr val="007D75"/>
                </a:solidFill>
                <a:latin typeface="Arial"/>
                <a:ea typeface="Arial"/>
                <a:cs typeface="Arial"/>
              </a:defRPr>
            </a:pPr>
            <a:r>
              <a:rPr sz="2025" b="1">
                <a:solidFill>
                  <a:srgbClr val="007D75"/>
                </a:solidFill>
                <a:latin typeface="Arial"/>
                <a:ea typeface="Arial"/>
                <a:cs typeface="Arial"/>
              </a:rPr>
              <a:t>Đúng/giờ nếu đạt cùng tỉ lệ sim = 600 × 1.00 = 600</a:t>
            </a:r>
          </a:p>
          <a:p xmlns:a="http://schemas.openxmlformats.org/drawingml/2006/main">
            <a:pPr>
              <a:defRPr sz="2025" b="1">
                <a:solidFill>
                  <a:srgbClr val="007D75"/>
                </a:solidFill>
                <a:latin typeface="Arial"/>
                <a:ea typeface="Arial"/>
                <a:cs typeface="Arial"/>
              </a:defRPr>
            </a:pPr>
            <a:r>
              <a:rPr sz="2025" b="1">
                <a:solidFill>
                  <a:srgbClr val="007D75"/>
                </a:solidFill>
                <a:latin typeface="Arial"/>
                <a:ea typeface="Arial"/>
                <a:cs typeface="Arial"/>
              </a:rPr>
              <a:t>Chưa trừ dừng máy, giám sát và thời gian can thiệp.</a:t>
            </a:r>
          </a:p>
        </p:txBody>
      </p:sp>
      <p:sp>
        <p:nvSpPr>
          <p:cNvPr id="7" name="Chưa có baseline người thật để tính ROI hoặc ">
            <a:extLst xmlns:a="http://schemas.openxmlformats.org/drawingml/2006/main">
              <a:ext uri="{FF2B5EF4-FFF2-40B4-BE49-F238E27FC236}">
                <a16:creationId xmlns:a16="http://schemas.microsoft.com/office/drawing/2014/main" id="{353D4F78-35AE-4FE1-8770-24080313CE14}"/>
              </a:ext>
            </a:extLst>
          </p:cNvPr>
          <p:cNvSpPr>
            <a:spLocks xmlns:a="http://schemas.openxmlformats.org/drawingml/2006/main" noGrp="1"/>
          </p:cNvSpPr>
          <p:nvPr/>
        </p:nvSpPr>
        <p:spPr>
          <a:xfrm xmlns:a="http://schemas.openxmlformats.org/drawingml/2006/main">
            <a:off x="533400" y="5924550"/>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26277"/>
                </a:solidFill>
                <a:latin typeface="Arial"/>
                <a:ea typeface="Arial"/>
                <a:cs typeface="Arial"/>
              </a:defRPr>
            </a:defPPr>
          </a:lstStyle>
          <a:p xmlns:a="http://schemas.openxmlformats.org/drawingml/2006/main">
            <a:pPr>
              <a:defRPr sz="1800" b="0">
                <a:solidFill>
                  <a:srgbClr val="526277"/>
                </a:solidFill>
                <a:latin typeface="Arial"/>
                <a:ea typeface="Arial"/>
                <a:cs typeface="Arial"/>
              </a:defRPr>
            </a:pPr>
            <a:r>
              <a:rPr sz="1800" b="0">
                <a:solidFill>
                  <a:srgbClr val="526277"/>
                </a:solidFill>
                <a:latin typeface="Arial"/>
                <a:ea typeface="Arial"/>
                <a:cs typeface="Arial"/>
              </a:rPr>
              <a:t>Chưa có baseline người thật để tính ROI hoặc giờ công thực sự tiết kiệm.</a:t>
            </a:r>
          </a:p>
        </p:txBody>
      </p:sp>
    </p:spTree>
    <p:extLst>
      <p:ext uri="{BB962C8B-B14F-4D97-AF65-F5344CB8AC3E}">
        <p14:creationId xmlns:p14="http://schemas.microsoft.com/office/powerpoint/2010/main" val="1094461197"/>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Giới hạn và đường sim-to-real">
            <a:extLst xmlns:a="http://schemas.openxmlformats.org/drawingml/2006/main">
              <a:ext uri="{FF2B5EF4-FFF2-40B4-BE49-F238E27FC236}">
                <a16:creationId xmlns:a16="http://schemas.microsoft.com/office/drawing/2014/main" id="{A61924C8-F69F-457F-AC12-CCE7C75D348C}"/>
              </a:ext>
            </a:extLst>
          </p:cNvPr>
          <p:cNvSpPr>
            <a:spLocks xmlns:a="http://schemas.openxmlformats.org/drawingml/2006/main" noGrp="1"/>
          </p:cNvSpPr>
          <p:nvPr/>
        </p:nvSpPr>
        <p:spPr>
          <a:xfrm xmlns:a="http://schemas.openxmlformats.org/drawingml/2006/main">
            <a:off x="533400" y="4286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243A"/>
                </a:solidFill>
                <a:latin typeface="Arial"/>
                <a:ea typeface="Arial"/>
                <a:cs typeface="Arial"/>
              </a:defRPr>
            </a:defPPr>
          </a:lstStyle>
          <a:p xmlns:a="http://schemas.openxmlformats.org/drawingml/2006/main">
            <a:pPr>
              <a:defRPr sz="3225" b="1">
                <a:solidFill>
                  <a:srgbClr val="15243A"/>
                </a:solidFill>
                <a:latin typeface="Arial"/>
                <a:ea typeface="Arial"/>
                <a:cs typeface="Arial"/>
              </a:defRPr>
            </a:pPr>
            <a:r>
              <a:rPr sz="3225" b="1">
                <a:solidFill>
                  <a:srgbClr val="15243A"/>
                </a:solidFill>
                <a:latin typeface="Arial"/>
                <a:ea typeface="Arial"/>
                <a:cs typeface="Arial"/>
              </a:rPr>
              <a:t>Giới hạn và đường sim-to-real</a:t>
            </a:r>
          </a:p>
        </p:txBody>
      </p:sp>
      <p:sp>
        <p:nvSpPr>
          <p:cNvPr id="2" name="Phạm vi hiện tại: 3 màu bão hòa, camera và de">
            <a:extLst xmlns:a="http://schemas.openxmlformats.org/drawingml/2006/main">
              <a:ext uri="{FF2B5EF4-FFF2-40B4-BE49-F238E27FC236}">
                <a16:creationId xmlns:a16="http://schemas.microsoft.com/office/drawing/2014/main" id="{0075D102-1A5A-4CF4-A510-55D6B4F0EFBF}"/>
              </a:ext>
            </a:extLst>
          </p:cNvPr>
          <p:cNvSpPr>
            <a:spLocks xmlns:a="http://schemas.openxmlformats.org/drawingml/2006/main" noGrp="1"/>
          </p:cNvSpPr>
          <p:nvPr/>
        </p:nvSpPr>
        <p:spPr>
          <a:xfrm xmlns:a="http://schemas.openxmlformats.org/drawingml/2006/main">
            <a:off x="533400" y="11620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277"/>
                </a:solidFill>
                <a:latin typeface="Arial"/>
                <a:ea typeface="Arial"/>
                <a:cs typeface="Arial"/>
              </a:defRPr>
            </a:defPPr>
          </a:lstStyle>
          <a:p xmlns:a="http://schemas.openxmlformats.org/drawingml/2006/main">
            <a:pPr>
              <a:defRPr sz="1650" b="0">
                <a:solidFill>
                  <a:srgbClr val="526277"/>
                </a:solidFill>
                <a:latin typeface="Arial"/>
                <a:ea typeface="Arial"/>
                <a:cs typeface="Arial"/>
              </a:defRPr>
            </a:pPr>
            <a:r>
              <a:rPr sz="1650" b="0">
                <a:solidFill>
                  <a:srgbClr val="526277"/>
                </a:solidFill>
                <a:latin typeface="Arial"/>
                <a:ea typeface="Arial"/>
                <a:cs typeface="Arial"/>
              </a:rPr>
              <a:t>Phạm vi hiện tại: 3 màu bão hòa, camera và depth mô phỏng</a:t>
            </a:r>
          </a:p>
        </p:txBody>
      </p:sp>
      <p:sp>
        <p:nvSpPr>
          <p:cNvPr id="3" name="VinSort · Track 4 · 16/10/2026">
            <a:extLst xmlns:a="http://schemas.openxmlformats.org/drawingml/2006/main">
              <a:ext uri="{FF2B5EF4-FFF2-40B4-BE49-F238E27FC236}">
                <a16:creationId xmlns:a16="http://schemas.microsoft.com/office/drawing/2014/main" id="{B4E26952-29E8-4FA9-8B8C-94ACA25B8BB4}"/>
              </a:ext>
            </a:extLst>
          </p:cNvPr>
          <p:cNvSpPr>
            <a:spLocks xmlns:a="http://schemas.openxmlformats.org/drawingml/2006/main" noGrp="1"/>
          </p:cNvSpPr>
          <p:nvPr/>
        </p:nvSpPr>
        <p:spPr>
          <a:xfrm xmlns:a="http://schemas.openxmlformats.org/drawingml/2006/main">
            <a:off x="533400" y="646747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277"/>
                </a:solidFill>
                <a:latin typeface="Arial"/>
                <a:ea typeface="Arial"/>
                <a:cs typeface="Arial"/>
              </a:defRPr>
            </a:defPPr>
          </a:lstStyle>
          <a:p xmlns:a="http://schemas.openxmlformats.org/drawingml/2006/main">
            <a:pPr>
              <a:defRPr sz="1200" b="0">
                <a:solidFill>
                  <a:srgbClr val="526277"/>
                </a:solidFill>
                <a:latin typeface="Arial"/>
                <a:ea typeface="Arial"/>
                <a:cs typeface="Arial"/>
              </a:defRPr>
            </a:pPr>
            <a:r>
              <a:rPr sz="1200" b="0">
                <a:solidFill>
                  <a:srgbClr val="526277"/>
                </a:solidFill>
                <a:latin typeface="Arial"/>
                <a:ea typeface="Arial"/>
                <a:cs typeface="Arial"/>
              </a:rPr>
              <a:t>VinSort · Track 4 · 16/10/2026</a:t>
            </a:r>
          </a:p>
        </p:txBody>
      </p:sp>
      <p:sp>
        <p:nvSpPr>
          <p:cNvPr id="4" name="6/6">
            <a:extLst xmlns:a="http://schemas.openxmlformats.org/drawingml/2006/main">
              <a:ext uri="{FF2B5EF4-FFF2-40B4-BE49-F238E27FC236}">
                <a16:creationId xmlns:a16="http://schemas.microsoft.com/office/drawing/2014/main" id="{5D40BCEE-46EE-477F-99E9-66C6A1985967}"/>
              </a:ext>
            </a:extLst>
          </p:cNvPr>
          <p:cNvSpPr>
            <a:spLocks xmlns:a="http://schemas.openxmlformats.org/drawingml/2006/main" noGrp="1"/>
          </p:cNvSpPr>
          <p:nvPr/>
        </p:nvSpPr>
        <p:spPr>
          <a:xfrm xmlns:a="http://schemas.openxmlformats.org/drawingml/2006/main">
            <a:off x="11182350" y="64674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277"/>
                </a:solidFill>
                <a:latin typeface="Arial"/>
                <a:ea typeface="Arial"/>
                <a:cs typeface="Arial"/>
              </a:defRPr>
            </a:defPPr>
          </a:lstStyle>
          <a:p xmlns:a="http://schemas.openxmlformats.org/drawingml/2006/main">
            <a:pPr>
              <a:defRPr sz="1200" b="0">
                <a:solidFill>
                  <a:srgbClr val="526277"/>
                </a:solidFill>
                <a:latin typeface="Arial"/>
                <a:ea typeface="Arial"/>
                <a:cs typeface="Arial"/>
              </a:defRPr>
            </a:pPr>
            <a:r>
              <a:rPr sz="1200" b="0">
                <a:solidFill>
                  <a:srgbClr val="526277"/>
                </a:solidFill>
                <a:latin typeface="Arial"/>
                <a:ea typeface="Arial"/>
                <a:cs typeface="Arial"/>
              </a:rPr>
              <a:t>6/6</a:t>
            </a:r>
          </a:p>
        </p:txBody>
      </p:sp>
      <p:sp>
        <p:nvSpPr>
          <p:cNvPr id="5" name="Những gì cần kiểm chứng tiếp">
            <a:extLst xmlns:a="http://schemas.openxmlformats.org/drawingml/2006/main">
              <a:ext uri="{FF2B5EF4-FFF2-40B4-BE49-F238E27FC236}">
                <a16:creationId xmlns:a16="http://schemas.microsoft.com/office/drawing/2014/main" id="{04E6712E-AF65-41AD-A415-C5491EFF4AEE}"/>
              </a:ext>
            </a:extLst>
          </p:cNvPr>
          <p:cNvSpPr>
            <a:spLocks xmlns:a="http://schemas.openxmlformats.org/drawingml/2006/main" noGrp="1"/>
          </p:cNvSpPr>
          <p:nvPr/>
        </p:nvSpPr>
        <p:spPr>
          <a:xfrm xmlns:a="http://schemas.openxmlformats.org/drawingml/2006/main">
            <a:off x="533400" y="1895475"/>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07D75"/>
                </a:solidFill>
                <a:latin typeface="Arial"/>
                <a:ea typeface="Arial"/>
                <a:cs typeface="Arial"/>
              </a:defRPr>
            </a:defPPr>
          </a:lstStyle>
          <a:p xmlns:a="http://schemas.openxmlformats.org/drawingml/2006/main">
            <a:pPr>
              <a:defRPr sz="2325" b="1">
                <a:solidFill>
                  <a:srgbClr val="007D75"/>
                </a:solidFill>
                <a:latin typeface="Arial"/>
                <a:ea typeface="Arial"/>
                <a:cs typeface="Arial"/>
              </a:defRPr>
            </a:pPr>
            <a:r>
              <a:rPr sz="2325" b="1">
                <a:solidFill>
                  <a:srgbClr val="007D75"/>
                </a:solidFill>
                <a:latin typeface="Arial"/>
                <a:ea typeface="Arial"/>
                <a:cs typeface="Arial"/>
              </a:rPr>
              <a:t>Những gì cần kiểm chứng tiếp</a:t>
            </a:r>
          </a:p>
        </p:txBody>
      </p:sp>
      <p:sp>
        <p:nvSpPr>
          <p:cNvPr id="6" name="Camera thật và ánh sáng nhà xưởng&#10;Kim loại bó">
            <a:extLst xmlns:a="http://schemas.openxmlformats.org/drawingml/2006/main">
              <a:ext uri="{FF2B5EF4-FFF2-40B4-BE49-F238E27FC236}">
                <a16:creationId xmlns:a16="http://schemas.microsoft.com/office/drawing/2014/main" id="{C23E1BD4-9BBC-4073-AE52-07CF4CA74678}"/>
              </a:ext>
            </a:extLst>
          </p:cNvPr>
          <p:cNvSpPr>
            <a:spLocks xmlns:a="http://schemas.openxmlformats.org/drawingml/2006/main" noGrp="1"/>
          </p:cNvSpPr>
          <p:nvPr/>
        </p:nvSpPr>
        <p:spPr>
          <a:xfrm xmlns:a="http://schemas.openxmlformats.org/drawingml/2006/main">
            <a:off x="533400" y="2581275"/>
            <a:ext cx="111252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5243A"/>
                </a:solidFill>
                <a:latin typeface="Arial"/>
                <a:ea typeface="Arial"/>
                <a:cs typeface="Arial"/>
              </a:defRPr>
            </a:defPPr>
          </a:lstStyle>
          <a:p xmlns:a="http://schemas.openxmlformats.org/drawingml/2006/main">
            <a:pPr>
              <a:defRPr sz="2250" b="0">
                <a:solidFill>
                  <a:srgbClr val="15243A"/>
                </a:solidFill>
                <a:latin typeface="Arial"/>
                <a:ea typeface="Arial"/>
                <a:cs typeface="Arial"/>
              </a:defRPr>
            </a:pPr>
            <a:r>
              <a:rPr sz="2250" b="0">
                <a:solidFill>
                  <a:srgbClr val="15243A"/>
                </a:solidFill>
                <a:latin typeface="Arial"/>
                <a:ea typeface="Arial"/>
                <a:cs typeface="Arial"/>
              </a:rPr>
              <a:t>Camera thật và ánh sáng nhà xưởng</a:t>
            </a:r>
          </a:p>
          <a:p xmlns:a="http://schemas.openxmlformats.org/drawingml/2006/main">
            <a:pPr>
              <a:defRPr sz="2250" b="0">
                <a:solidFill>
                  <a:srgbClr val="15243A"/>
                </a:solidFill>
                <a:latin typeface="Arial"/>
                <a:ea typeface="Arial"/>
                <a:cs typeface="Arial"/>
              </a:defRPr>
            </a:pPr>
            <a:r>
              <a:rPr sz="2250" b="0">
                <a:solidFill>
                  <a:srgbClr val="15243A"/>
                </a:solidFill>
                <a:latin typeface="Arial"/>
                <a:ea typeface="Arial"/>
                <a:cs typeface="Arial"/>
              </a:rPr>
              <a:t>Kim loại bóng, vật chồng và vật ngoài ba màu</a:t>
            </a:r>
          </a:p>
          <a:p xmlns:a="http://schemas.openxmlformats.org/drawingml/2006/main">
            <a:pPr>
              <a:defRPr sz="2250" b="0">
                <a:solidFill>
                  <a:srgbClr val="15243A"/>
                </a:solidFill>
                <a:latin typeface="Arial"/>
                <a:ea typeface="Arial"/>
                <a:cs typeface="Arial"/>
              </a:defRPr>
            </a:pPr>
            <a:r>
              <a:rPr sz="2250" b="0">
                <a:solidFill>
                  <a:srgbClr val="15243A"/>
                </a:solidFill>
                <a:latin typeface="Arial"/>
                <a:ea typeface="Arial"/>
                <a:cs typeface="Arial"/>
              </a:rPr>
              <a:t>Độ bám tay gắp thật, độ trễ và độ chính xác cử chỉ</a:t>
            </a:r>
          </a:p>
          <a:p xmlns:a="http://schemas.openxmlformats.org/drawingml/2006/main">
            <a:pPr>
              <a:defRPr sz="2250" b="0">
                <a:solidFill>
                  <a:srgbClr val="15243A"/>
                </a:solidFill>
                <a:latin typeface="Arial"/>
                <a:ea typeface="Arial"/>
                <a:cs typeface="Arial"/>
              </a:defRPr>
            </a:pPr>
            <a:r>
              <a:rPr sz="2250" b="0">
                <a:solidFill>
                  <a:srgbClr val="15243A"/>
                </a:solidFill>
                <a:latin typeface="Arial"/>
                <a:ea typeface="Arial"/>
                <a:cs typeface="Arial"/>
              </a:rPr>
              <a:t>An toàn vùng làm việc và dừng khẩn phần cứng</a:t>
            </a:r>
          </a:p>
        </p:txBody>
      </p:sp>
      <p:sp>
        <p:nvSpPr>
          <p:cNvPr id="7" name="Lộ trình">
            <a:extLst xmlns:a="http://schemas.openxmlformats.org/drawingml/2006/main">
              <a:ext uri="{FF2B5EF4-FFF2-40B4-BE49-F238E27FC236}">
                <a16:creationId xmlns:a16="http://schemas.microsoft.com/office/drawing/2014/main" id="{BE75D12F-AC69-4657-866B-12CA73FEE536}"/>
              </a:ext>
            </a:extLst>
          </p:cNvPr>
          <p:cNvSpPr>
            <a:spLocks xmlns:a="http://schemas.openxmlformats.org/drawingml/2006/main" noGrp="1"/>
          </p:cNvSpPr>
          <p:nvPr/>
        </p:nvSpPr>
        <p:spPr>
          <a:xfrm xmlns:a="http://schemas.openxmlformats.org/drawingml/2006/main">
            <a:off x="533400" y="47148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07D75"/>
                </a:solidFill>
                <a:latin typeface="Arial"/>
                <a:ea typeface="Arial"/>
                <a:cs typeface="Arial"/>
              </a:defRPr>
            </a:defPPr>
          </a:lstStyle>
          <a:p xmlns:a="http://schemas.openxmlformats.org/drawingml/2006/main">
            <a:pPr>
              <a:defRPr sz="2325" b="1">
                <a:solidFill>
                  <a:srgbClr val="007D75"/>
                </a:solidFill>
                <a:latin typeface="Arial"/>
                <a:ea typeface="Arial"/>
                <a:cs typeface="Arial"/>
              </a:defRPr>
            </a:pPr>
            <a:r>
              <a:rPr sz="2325" b="1">
                <a:solidFill>
                  <a:srgbClr val="007D75"/>
                </a:solidFill>
                <a:latin typeface="Arial"/>
                <a:ea typeface="Arial"/>
                <a:cs typeface="Arial"/>
              </a:rPr>
              <a:t>Lộ trình</a:t>
            </a:r>
          </a:p>
        </p:txBody>
      </p:sp>
      <p:sp>
        <p:nvSpPr>
          <p:cNvPr id="8" name="Dữ liệu vật thật và baseline người  /  Hiệu c">
            <a:extLst xmlns:a="http://schemas.openxmlformats.org/drawingml/2006/main">
              <a:ext uri="{FF2B5EF4-FFF2-40B4-BE49-F238E27FC236}">
                <a16:creationId xmlns:a16="http://schemas.microsoft.com/office/drawing/2014/main" id="{FFD6A577-DEAB-46B7-ACCC-4A0848550D2C}"/>
              </a:ext>
            </a:extLst>
          </p:cNvPr>
          <p:cNvSpPr>
            <a:spLocks xmlns:a="http://schemas.openxmlformats.org/drawingml/2006/main" noGrp="1"/>
          </p:cNvSpPr>
          <p:nvPr/>
        </p:nvSpPr>
        <p:spPr>
          <a:xfrm xmlns:a="http://schemas.openxmlformats.org/drawingml/2006/main">
            <a:off x="533400" y="5286375"/>
            <a:ext cx="111252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26277"/>
                </a:solidFill>
                <a:latin typeface="Arial"/>
                <a:ea typeface="Arial"/>
                <a:cs typeface="Arial"/>
              </a:defRPr>
            </a:defPPr>
          </a:lstStyle>
          <a:p xmlns:a="http://schemas.openxmlformats.org/drawingml/2006/main">
            <a:pPr>
              <a:defRPr sz="2100" b="0">
                <a:solidFill>
                  <a:srgbClr val="526277"/>
                </a:solidFill>
                <a:latin typeface="Arial"/>
                <a:ea typeface="Arial"/>
                <a:cs typeface="Arial"/>
              </a:defRPr>
            </a:pPr>
            <a:r>
              <a:rPr sz="2100" b="0">
                <a:solidFill>
                  <a:srgbClr val="526277"/>
                </a:solidFill>
                <a:latin typeface="Arial"/>
                <a:ea typeface="Arial"/>
                <a:cs typeface="Arial"/>
              </a:rPr>
              <a:t>Dữ liệu vật thật và baseline người  /  Hiệu chuẩn camera</a:t>
            </a:r>
          </a:p>
          <a:p xmlns:a="http://schemas.openxmlformats.org/drawingml/2006/main">
            <a:pPr>
              <a:defRPr sz="2100" b="0">
                <a:solidFill>
                  <a:srgbClr val="526277"/>
                </a:solidFill>
                <a:latin typeface="Arial"/>
                <a:ea typeface="Arial"/>
                <a:cs typeface="Arial"/>
              </a:defRPr>
            </a:pPr>
            <a:r>
              <a:rPr sz="2100" b="0">
                <a:solidFill>
                  <a:srgbClr val="526277"/>
                </a:solidFill>
                <a:latin typeface="Arial"/>
                <a:ea typeface="Arial"/>
                <a:cs typeface="Arial"/>
              </a:rPr>
              <a:t>Detector phù hợp  /  Tay gắp thật  /  Pilot có đo can thiệp</a:t>
            </a:r>
          </a:p>
        </p:txBody>
      </p:sp>
    </p:spTree>
    <p:extLst>
      <p:ext uri="{BB962C8B-B14F-4D97-AF65-F5344CB8AC3E}">
        <p14:creationId xmlns:p14="http://schemas.microsoft.com/office/powerpoint/2010/main" val="9463293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2026-10-16T09:26:14.1810000Z</dcterms:created>
  <dcterms:modified xsi:type="dcterms:W3CDTF">2026-10-16T09:26:14.1820000Z</dcterms:modified>
</coreProperties>
</file>